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5E664-A329-4020-AA40-FD450F384BD6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B387D-8785-4D1A-AE2F-53C82B198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73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各位老师、同学大家好，下面由我汇报 </a:t>
            </a:r>
            <a:r>
              <a:rPr lang="en-US" altLang="zh-CN"/>
              <a:t>Mercury </a:t>
            </a:r>
            <a:r>
              <a:rPr lang="zh-CN" altLang="en-US"/>
              <a:t>项目组第 </a:t>
            </a:r>
            <a:r>
              <a:rPr lang="en-US" altLang="zh-CN"/>
              <a:t>4 </a:t>
            </a:r>
            <a:r>
              <a:rPr lang="zh-CN" altLang="en-US"/>
              <a:t>周的开发进度。
</a:t>
            </a:r>
            <a:r>
              <a:rPr lang="en-US" altLang="zh-CN"/>
              <a:t>Mercury </a:t>
            </a:r>
            <a:r>
              <a:rPr lang="zh-CN" altLang="en-US"/>
              <a:t>是一个本地优先、带有 </a:t>
            </a:r>
            <a:r>
              <a:rPr lang="en-US" altLang="zh-CN"/>
              <a:t>AI </a:t>
            </a:r>
            <a:r>
              <a:rPr lang="zh-CN" altLang="en-US"/>
              <a:t>增强能力的 </a:t>
            </a:r>
            <a:r>
              <a:rPr lang="en-US" altLang="zh-CN"/>
              <a:t>RSS </a:t>
            </a:r>
            <a:r>
              <a:rPr lang="zh-CN" altLang="en-US"/>
              <a:t>阅读器。本周我们的工作可以概括为三个关键词：功能落地、交叉测试和联调优化。
与上周相比，我们不仅补充了新的使用功能，也开始从用户视角验证整个应用。接下来我会分别介绍本周的功能更新、全组互测情况，以及下一阶段的安排。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B387D-8785-4D1A-AE2F-53C82B19870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438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这一页是本周工作的整体概览。
第一，我们完成了 </a:t>
            </a:r>
            <a:r>
              <a:rPr lang="en-US" altLang="zh-CN" dirty="0"/>
              <a:t>5 </a:t>
            </a:r>
            <a:r>
              <a:rPr lang="zh-CN" altLang="en-US" dirty="0"/>
              <a:t>项功能与体验更新，包括 </a:t>
            </a:r>
            <a:r>
              <a:rPr lang="en-US" altLang="zh-CN" dirty="0"/>
              <a:t>AI </a:t>
            </a:r>
            <a:r>
              <a:rPr lang="zh-CN" altLang="en-US" dirty="0"/>
              <a:t>摘要、</a:t>
            </a:r>
            <a:r>
              <a:rPr lang="en-US" altLang="zh-CN" dirty="0"/>
              <a:t>AI </a:t>
            </a:r>
            <a:r>
              <a:rPr lang="zh-CN" altLang="en-US" dirty="0"/>
              <a:t>翻译、第三方模型配置、深浅主题配置和标签功能优化。
第二，全组四个小组开展了交叉测试。每个小组不仅测试自己负责的部分，也体验其他组开发的功能，记录问题并反馈 </a:t>
            </a:r>
            <a:r>
              <a:rPr lang="en-US" altLang="zh-CN" dirty="0"/>
              <a:t>Bug</a:t>
            </a:r>
            <a:r>
              <a:rPr lang="zh-CN" altLang="en-US" dirty="0"/>
              <a:t>。
第三，项目的完整主链路已经进入联调验证阶段。现在可以沿着订阅、阅读、</a:t>
            </a:r>
            <a:r>
              <a:rPr lang="en-US" altLang="zh-CN" dirty="0"/>
              <a:t>AI </a:t>
            </a:r>
            <a:r>
              <a:rPr lang="zh-CN" altLang="en-US" dirty="0"/>
              <a:t>处理、标签整理和 </a:t>
            </a:r>
            <a:r>
              <a:rPr lang="en-US" altLang="zh-CN" dirty="0"/>
              <a:t>Markdown </a:t>
            </a:r>
            <a:r>
              <a:rPr lang="zh-CN" altLang="en-US" dirty="0"/>
              <a:t>导出的流程进行演示。
所以本周的重点，不只是增加功能，而是让功能变得可配置、可展示、可测试、可反馈。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B387D-8785-4D1A-AE2F-53C82B19870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622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首先介绍 </a:t>
            </a:r>
            <a:r>
              <a:rPr lang="en-US" altLang="zh-CN" dirty="0"/>
              <a:t>AI </a:t>
            </a:r>
            <a:r>
              <a:rPr lang="zh-CN" altLang="en-US" dirty="0"/>
              <a:t>摘要和 </a:t>
            </a:r>
            <a:r>
              <a:rPr lang="en-US" altLang="zh-CN" dirty="0"/>
              <a:t>AI </a:t>
            </a:r>
            <a:r>
              <a:rPr lang="zh-CN" altLang="en-US" dirty="0"/>
              <a:t>翻译功能。
用户打开文章后，可以直接在阅读界面生成摘要，也可以输入目标语言进行翻译。系统优先使用清洗后的 </a:t>
            </a:r>
            <a:r>
              <a:rPr lang="en-US" altLang="zh-CN" dirty="0"/>
              <a:t>Markdown </a:t>
            </a:r>
            <a:r>
              <a:rPr lang="zh-CN" altLang="en-US" dirty="0"/>
              <a:t>正文作为模型输入，这样可以减少网页导航、广告等无关内容的干扰。
模型返回的摘要和翻译结果会显示在 </a:t>
            </a:r>
            <a:r>
              <a:rPr lang="en-US" altLang="zh-CN" dirty="0"/>
              <a:t>Reader View </a:t>
            </a:r>
            <a:r>
              <a:rPr lang="zh-CN" altLang="en-US" dirty="0"/>
              <a:t>中，同时与文章记录关联保存。我们还增加了运行状态和 </a:t>
            </a:r>
            <a:r>
              <a:rPr lang="en-US" altLang="zh-CN" dirty="0"/>
              <a:t>Token </a:t>
            </a:r>
            <a:r>
              <a:rPr lang="zh-CN" altLang="en-US" dirty="0"/>
              <a:t>用量记录，为后续排查错误和统计使用情况提供基础。
右侧这里建议放一张真实运行截图，最好同时包含文章正文、</a:t>
            </a:r>
            <a:r>
              <a:rPr lang="en-US" altLang="zh-CN" dirty="0"/>
              <a:t>AI </a:t>
            </a:r>
            <a:r>
              <a:rPr lang="zh-CN" altLang="en-US" dirty="0"/>
              <a:t>操作按钮和生成结果，这样能够直观说明该功能已经从占位按钮发展为实际使用链路。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B387D-8785-4D1A-AE2F-53C82B19870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670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除了 </a:t>
            </a:r>
            <a:r>
              <a:rPr lang="en-US" altLang="zh-CN" dirty="0"/>
              <a:t>AI </a:t>
            </a:r>
            <a:r>
              <a:rPr lang="zh-CN" altLang="en-US" dirty="0"/>
              <a:t>功能本身，本周还完善了两类配置能力。
左侧是第三方模型接入配置。用户可以填写 </a:t>
            </a:r>
            <a:r>
              <a:rPr lang="en-US" altLang="zh-CN" dirty="0"/>
              <a:t>Base URL</a:t>
            </a:r>
            <a:r>
              <a:rPr lang="zh-CN" altLang="en-US" dirty="0"/>
              <a:t>、</a:t>
            </a:r>
            <a:r>
              <a:rPr lang="en-US" altLang="zh-CN" dirty="0"/>
              <a:t>API Key </a:t>
            </a:r>
            <a:r>
              <a:rPr lang="zh-CN" altLang="en-US" dirty="0"/>
              <a:t>和模型名称，因此应用不再依赖写死的模型地址，可以连接 </a:t>
            </a:r>
            <a:r>
              <a:rPr lang="en-US" altLang="zh-CN" dirty="0"/>
              <a:t>OpenAI-compatible </a:t>
            </a:r>
            <a:r>
              <a:rPr lang="zh-CN" altLang="en-US" dirty="0"/>
              <a:t>的云服务或其他兼容接口。配置会保存在本地。
右侧是阅读主题配置。用户可以选择浅色或深色主题，也可以调整字体大小和行距。保存后，设置会直接应用到阅读界面，并在下次启动时继续使用。
这一页预留了两个截图位置。左侧适合放模型设置页面，右侧最好放同一篇文章在浅色和深色模式下的对比图。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B387D-8785-4D1A-AE2F-53C82B19870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137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本周我们也进一步优化了标签功能。
标签现在不只是一个简单的添加入口，而是形成了完整的整理路径。用户可以创建标签；遇到同名标签时会复用已有标签，避免重复；标签可以绑定到文章，并用于筛选文章列表。
在导出 </a:t>
            </a:r>
            <a:r>
              <a:rPr lang="en-US" altLang="zh-CN" dirty="0"/>
              <a:t>Markdown </a:t>
            </a:r>
            <a:r>
              <a:rPr lang="zh-CN" altLang="en-US" dirty="0"/>
              <a:t>时，文章标签也会写入文件，因此标签同时服务于应用内分类和应用外的知识整理。
左侧截图建议同时展示三个信息：侧边栏中的标签列表、文章当前标签，以及按标签筛选后的文章结果。这样能更清楚地体现标签功能前后端已经联动。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B387D-8785-4D1A-AE2F-53C82B19870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073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除了功能开发，本周全组还集中开展了跨组互测。
我们的流程是：先由其他小组实际体验功能，再记录操作步骤和异常现象，然后向对应开发成员反馈 </a:t>
            </a:r>
            <a:r>
              <a:rPr lang="en-US" altLang="zh-CN" dirty="0"/>
              <a:t>Bug</a:t>
            </a:r>
            <a:r>
              <a:rPr lang="zh-CN" altLang="en-US" dirty="0"/>
              <a:t>；修复完成后，再由测试成员重新验证。
互测范围覆盖订阅与 </a:t>
            </a:r>
            <a:r>
              <a:rPr lang="en-US" altLang="zh-CN" dirty="0"/>
              <a:t>OPML</a:t>
            </a:r>
            <a:r>
              <a:rPr lang="zh-CN" altLang="en-US" dirty="0"/>
              <a:t>、正文抓取和清洗、</a:t>
            </a:r>
            <a:r>
              <a:rPr lang="en-US" altLang="zh-CN" dirty="0"/>
              <a:t>AI </a:t>
            </a:r>
            <a:r>
              <a:rPr lang="zh-CN" altLang="en-US" dirty="0"/>
              <a:t>摘要与翻译、标签与导出、设置持久化等模块。
测试方式既包括服务层回归和内容清洗验证，也包括 </a:t>
            </a:r>
            <a:r>
              <a:rPr lang="en-US" altLang="zh-CN" dirty="0"/>
              <a:t>Electron </a:t>
            </a:r>
            <a:r>
              <a:rPr lang="zh-CN" altLang="en-US" dirty="0"/>
              <a:t>窗口冒烟测试、端到端流程测试和人工界面体验。跨组测试的价值在于，其他成员更接近普通用户，能够发现开发者自测时容易忽略的问题。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B387D-8785-4D1A-AE2F-53C82B19870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58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经过本周的功能整合和交叉测试，</a:t>
            </a:r>
            <a:r>
              <a:rPr lang="en-US" altLang="zh-CN" dirty="0"/>
              <a:t>Mercury </a:t>
            </a:r>
            <a:r>
              <a:rPr lang="zh-CN" altLang="en-US" dirty="0"/>
              <a:t>的完整主链路已经具备课堂演示条件。
整个流程从添加 </a:t>
            </a:r>
            <a:r>
              <a:rPr lang="en-US" altLang="zh-CN" dirty="0"/>
              <a:t>RSS </a:t>
            </a:r>
            <a:r>
              <a:rPr lang="zh-CN" altLang="en-US" dirty="0"/>
              <a:t>或导入 </a:t>
            </a:r>
            <a:r>
              <a:rPr lang="en-US" altLang="zh-CN" dirty="0"/>
              <a:t>OPML </a:t>
            </a:r>
            <a:r>
              <a:rPr lang="zh-CN" altLang="en-US" dirty="0"/>
              <a:t>开始，接着抓取文章、清洗正文并在 </a:t>
            </a:r>
            <a:r>
              <a:rPr lang="en-US" altLang="zh-CN" dirty="0"/>
              <a:t>Reader View </a:t>
            </a:r>
            <a:r>
              <a:rPr lang="zh-CN" altLang="en-US" dirty="0"/>
              <a:t>中阅读。用户随后可以生成 </a:t>
            </a:r>
            <a:r>
              <a:rPr lang="en-US" altLang="zh-CN" dirty="0"/>
              <a:t>AI </a:t>
            </a:r>
            <a:r>
              <a:rPr lang="zh-CN" altLang="en-US" dirty="0"/>
              <a:t>摘要或翻译，给文章添加标签，最后导出包含正文、标签和 </a:t>
            </a:r>
            <a:r>
              <a:rPr lang="en-US" altLang="zh-CN" dirty="0"/>
              <a:t>AI </a:t>
            </a:r>
            <a:r>
              <a:rPr lang="zh-CN" altLang="en-US" dirty="0"/>
              <a:t>结果的 </a:t>
            </a:r>
            <a:r>
              <a:rPr lang="en-US" altLang="zh-CN" dirty="0"/>
              <a:t>Markdown </a:t>
            </a:r>
            <a:r>
              <a:rPr lang="zh-CN" altLang="en-US" dirty="0"/>
              <a:t>文件。
下方建议放应用完整主界面的实际截图，最好同时展示左侧 </a:t>
            </a:r>
            <a:r>
              <a:rPr lang="en-US" altLang="zh-CN" dirty="0"/>
              <a:t>Feed</a:t>
            </a:r>
            <a:r>
              <a:rPr lang="zh-CN" altLang="en-US" dirty="0"/>
              <a:t>、中央文章列表和右侧阅读区。
目前我们认为主流程已经基本贯通，但仍会继续通过测试修复细节问题，避免把“可以运行”直接等同于“已经稳定”。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B387D-8785-4D1A-AE2F-53C82B19870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68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最后是下一阶段的工作安排。
第一，继续整理跨组互测发现的问题，完成修复后的回归验证。
第二，完善 </a:t>
            </a:r>
            <a:r>
              <a:rPr lang="en-US" altLang="zh-CN" dirty="0"/>
              <a:t>AI </a:t>
            </a:r>
            <a:r>
              <a:rPr lang="zh-CN" altLang="en-US" dirty="0"/>
              <a:t>功能的交互状态，例如加载提示、错误提示和防止重复点击，让用户能够明确知道任务当前的执行情况。
第三，及时更新 </a:t>
            </a:r>
            <a:r>
              <a:rPr lang="en-US" altLang="zh-CN" dirty="0"/>
              <a:t>README</a:t>
            </a:r>
            <a:r>
              <a:rPr lang="zh-CN" altLang="en-US" dirty="0"/>
              <a:t>、测试结果和演示材料，避免文档继续停留在上周状态。
第四，准备课堂端到端 </a:t>
            </a:r>
            <a:r>
              <a:rPr lang="en-US" altLang="zh-CN" dirty="0"/>
              <a:t>Demo</a:t>
            </a:r>
            <a:r>
              <a:rPr lang="zh-CN" altLang="en-US" dirty="0"/>
              <a:t>，提前配置好订阅源、模型接口、演示文章和导出结果，降低现场网络或接口波动带来的风险。
总体来说，</a:t>
            </a:r>
            <a:r>
              <a:rPr lang="en-US" altLang="zh-CN" dirty="0"/>
              <a:t>Mercury </a:t>
            </a:r>
            <a:r>
              <a:rPr lang="zh-CN" altLang="en-US" dirty="0"/>
              <a:t>正在从各模块功能的集合，逐步发展为一个经过全组协作验证的完整产品体验。我的汇报到这里，谢谢大家。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B387D-8785-4D1A-AE2F-53C82B19870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83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F02E5-F74B-A8A7-A275-652755EFC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F603C3-7152-9C10-9AD9-9AF98AAD0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88080C-BBE0-4F34-1DC5-3DF88508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90931C-0584-DC18-10D6-3DCB1F66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61142F-0B07-9E3B-BDD9-24E942DC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22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2A9B2-676D-52D1-BB5F-9E4FD9AA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7B7B0-A78E-E4CE-D85B-E7941B63D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5871C3-230C-BB23-F001-E3F66875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624EC1-A5A6-D14B-8FC4-68F0441F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8B879-20EC-6141-B4CD-5C93D4E2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5CA23-7C43-DD79-2B92-A0EF825F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E2BE9C-1D65-BE50-F5FD-6212E474C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9B55A6-B065-E79E-CEA9-3600A725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EDFB3-3B56-6A22-0AAE-180DB0F5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386550-F730-AEB7-89FF-A6130AD1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87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D264D-57AA-D990-8AFB-3E814BA0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C17667-7723-B810-4E3A-6BBC42821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0CF44F-7C4C-A533-3149-A4F52C08E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3877F2-89FE-764C-2651-C44A472A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2B1A27-B552-FE5B-1124-651C3FD4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B6236C-7E73-567F-1E66-18932129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10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0448A-1E0D-5D3D-6A90-233BD24B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718808-DBEE-3517-33D2-2D75F6645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6DFD5-077A-35A1-45E4-607CC93BD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8D0BE4-4456-DC9F-8C93-25C49A0775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AC51FF-2A7D-6599-CAC0-9D2C23ACB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5F807F1-DB15-8D96-EC3A-F6E18976A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1D1C5C-DD97-FA4E-5852-551BEBAF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3A9C9B-6FEE-2792-58D7-BDEA5934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70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E46F1-9D6F-6652-7D18-9E4C45CC5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58C767-6EEA-8992-BB2D-351FC641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98F37D-D646-E40D-F7C9-444AAAB9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15F775-F1FF-B750-7355-44F618BD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48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195890-10A4-367C-AA8D-99B5F19B5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83D6DD-7EDD-786C-FDA4-1F36E1B1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51351A-8362-AFB0-97FB-07CB2ED8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40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E0EB4-6CB0-4744-4D33-31C509F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C514BC-3CD3-7D78-38B6-94D3AE8DE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41298B-0385-037E-A72A-7B57B1C42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77A7DC-ACB2-55C7-845E-CC0F89C3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E9262B-D194-2227-0B8A-DD59E40C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1D9951-6F0E-AADA-9BF3-BE1D395E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92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2E9AA-2334-D46A-917E-45998B9AC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1D3001-EF73-59BC-12EB-55EDAFB8E6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A3933A-DB9D-862E-786C-C817AE52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35A799-16AE-4248-FAB4-1BA14C46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54B183-535D-D3BE-0BA0-B134A917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A52F45-6953-B856-86C4-8F9F1515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1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19224-2AD6-9305-5FF9-598D06C63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798A24-D7AC-70EA-4370-F87262BC0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EE51B9-C28D-997C-A588-777CF1147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F62BBE-59C5-0220-8001-B17EC4AE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D4BBB-BDC2-DEFC-02F4-4DB01920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024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40BB02-ECDE-BA87-6733-D10234EDF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FA3831-5A21-5E7A-26B2-841BA7DF4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DCAB2-94AA-2E8E-5494-9C28B6DFC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30D95C-1273-E6D3-8C61-3A8BAB0C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183A8E-6445-23B2-0CA2-ED5F34AC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07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BEBC2-B1FC-CE69-4662-92060683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48CAF4-16C7-FC1A-3CAE-CEAFDDD35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7651A8-EC88-D557-9925-E64B717FA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D630D-5D5B-4511-B958-54A5DEE6E3C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A347BD-BD30-FDC2-A800-AD5DA813E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CDAB58-23BB-F844-B976-28BAE22F2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8B656-21CE-4556-AFB9-EBE59DC4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4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80311D-83A3-1A76-B4E0-E78F6D72766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E3812D-10C0-63E1-0047-34EC7A46D874}"/>
              </a:ext>
            </a:extLst>
          </p:cNvPr>
          <p:cNvSpPr/>
          <p:nvPr/>
        </p:nvSpPr>
        <p:spPr>
          <a:xfrm>
            <a:off x="5765800" y="0"/>
            <a:ext cx="3378200" cy="5143500"/>
          </a:xfrm>
          <a:prstGeom prst="rect">
            <a:avLst/>
          </a:prstGeom>
          <a:solidFill>
            <a:srgbClr val="4F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7FCCF3-3945-5296-AF02-82FE458B2585}"/>
              </a:ext>
            </a:extLst>
          </p:cNvPr>
          <p:cNvSpPr txBox="1"/>
          <p:nvPr/>
        </p:nvSpPr>
        <p:spPr>
          <a:xfrm>
            <a:off x="660400" y="609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30" b="1">
                <a:solidFill>
                  <a:srgbClr val="4F6BFF"/>
                </a:solidFill>
                <a:latin typeface="Microsoft YaHei" panose="020B0503020204020204" pitchFamily="34" charset="-122"/>
              </a:rPr>
              <a:t>MERCURY</a:t>
            </a:r>
            <a:endParaRPr lang="zh-CN" altLang="en-US" sz="1230" b="1">
              <a:solidFill>
                <a:srgbClr val="4F6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C6BAE3-D1D7-8C7F-7B14-9D88CA4CF455}"/>
              </a:ext>
            </a:extLst>
          </p:cNvPr>
          <p:cNvSpPr txBox="1"/>
          <p:nvPr/>
        </p:nvSpPr>
        <p:spPr>
          <a:xfrm>
            <a:off x="660400" y="12700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80" b="1">
                <a:solidFill>
                  <a:srgbClr val="101828"/>
                </a:solidFill>
                <a:latin typeface="Microsoft YaHei" panose="020B0503020204020204" pitchFamily="34" charset="-122"/>
              </a:rPr>
              <a:t>本周进度汇报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53E510-7414-3750-1805-6E611089A53E}"/>
              </a:ext>
            </a:extLst>
          </p:cNvPr>
          <p:cNvSpPr txBox="1"/>
          <p:nvPr/>
        </p:nvSpPr>
        <p:spPr>
          <a:xfrm>
            <a:off x="685800" y="2133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60">
                <a:solidFill>
                  <a:srgbClr val="475467"/>
                </a:solidFill>
                <a:latin typeface="Microsoft YaHei" panose="020B0503020204020204" pitchFamily="34" charset="-122"/>
              </a:rPr>
              <a:t>功能落地 </a:t>
            </a:r>
            <a:r>
              <a:rPr lang="en-US" altLang="zh-CN" sz="1460">
                <a:solidFill>
                  <a:srgbClr val="475467"/>
                </a:solidFill>
                <a:latin typeface="Microsoft YaHei" panose="020B0503020204020204" pitchFamily="34" charset="-122"/>
              </a:rPr>
              <a:t>× </a:t>
            </a:r>
            <a:r>
              <a:rPr lang="zh-CN" altLang="en-US" sz="1460">
                <a:solidFill>
                  <a:srgbClr val="475467"/>
                </a:solidFill>
                <a:latin typeface="Microsoft YaHei" panose="020B0503020204020204" pitchFamily="34" charset="-122"/>
              </a:rPr>
              <a:t>交叉测试 </a:t>
            </a:r>
            <a:r>
              <a:rPr lang="en-US" altLang="zh-CN" sz="1460">
                <a:solidFill>
                  <a:srgbClr val="475467"/>
                </a:solidFill>
                <a:latin typeface="Microsoft YaHei" panose="020B0503020204020204" pitchFamily="34" charset="-122"/>
              </a:rPr>
              <a:t>× </a:t>
            </a:r>
            <a:r>
              <a:rPr lang="zh-CN" altLang="en-US" sz="1460">
                <a:solidFill>
                  <a:srgbClr val="475467"/>
                </a:solidFill>
                <a:latin typeface="Microsoft YaHei" panose="020B0503020204020204" pitchFamily="34" charset="-122"/>
              </a:rPr>
              <a:t>联调优化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8D03CC3-E346-7935-AB0E-7305A2609BE1}"/>
              </a:ext>
            </a:extLst>
          </p:cNvPr>
          <p:cNvCxnSpPr/>
          <p:nvPr/>
        </p:nvCxnSpPr>
        <p:spPr>
          <a:xfrm>
            <a:off x="685800" y="2730500"/>
            <a:ext cx="4241800" cy="0"/>
          </a:xfrm>
          <a:prstGeom prst="line">
            <a:avLst/>
          </a:prstGeom>
          <a:ln w="17780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F955E95-7F7E-7394-2EEA-3587F9DAE8BE}"/>
              </a:ext>
            </a:extLst>
          </p:cNvPr>
          <p:cNvSpPr txBox="1"/>
          <p:nvPr/>
        </p:nvSpPr>
        <p:spPr>
          <a:xfrm>
            <a:off x="685800" y="29972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 dirty="0">
                <a:solidFill>
                  <a:srgbClr val="7A899F"/>
                </a:solidFill>
                <a:latin typeface="Microsoft YaHei" panose="020B0503020204020204" pitchFamily="34" charset="-122"/>
              </a:rPr>
              <a:t>第 </a:t>
            </a:r>
            <a:r>
              <a:rPr lang="en-US" altLang="zh-CN" sz="1120" dirty="0">
                <a:solidFill>
                  <a:srgbClr val="7A899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120" dirty="0">
                <a:solidFill>
                  <a:srgbClr val="7A899F"/>
                </a:solidFill>
                <a:latin typeface="Microsoft YaHei" panose="020B0503020204020204" pitchFamily="34" charset="-122"/>
              </a:rPr>
              <a:t>周  </a:t>
            </a:r>
            <a:r>
              <a:rPr lang="en-US" altLang="zh-CN" sz="1120" dirty="0">
                <a:solidFill>
                  <a:srgbClr val="7A899F"/>
                </a:solidFill>
                <a:latin typeface="Microsoft YaHei" panose="020B0503020204020204" pitchFamily="34" charset="-122"/>
              </a:rPr>
              <a:t>/  2026.06.05 - 06.11</a:t>
            </a:r>
            <a:endParaRPr lang="zh-CN" altLang="en-US" sz="1120" dirty="0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A90E50-785A-2F44-ABD7-BCA0F5228B55}"/>
              </a:ext>
            </a:extLst>
          </p:cNvPr>
          <p:cNvSpPr txBox="1"/>
          <p:nvPr/>
        </p:nvSpPr>
        <p:spPr>
          <a:xfrm>
            <a:off x="685800" y="3429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 dirty="0">
                <a:solidFill>
                  <a:srgbClr val="7A899F"/>
                </a:solidFill>
                <a:latin typeface="Microsoft YaHei" panose="020B0503020204020204" pitchFamily="34" charset="-122"/>
              </a:rPr>
              <a:t>开源软件开发与社区治理 </a:t>
            </a:r>
            <a:r>
              <a:rPr lang="en-US" altLang="zh-CN" sz="1120" dirty="0">
                <a:solidFill>
                  <a:srgbClr val="7A899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20" dirty="0">
                <a:solidFill>
                  <a:srgbClr val="7A899F"/>
                </a:solidFill>
                <a:latin typeface="Microsoft YaHei" panose="020B0503020204020204" pitchFamily="34" charset="-122"/>
              </a:rPr>
              <a:t>第</a:t>
            </a:r>
            <a:r>
              <a:rPr lang="en-US" altLang="zh-CN" sz="1120" dirty="0">
                <a:solidFill>
                  <a:srgbClr val="7A899F"/>
                </a:solidFill>
                <a:latin typeface="Microsoft YaHei" panose="020B0503020204020204" pitchFamily="34" charset="-122"/>
              </a:rPr>
              <a:t>8</a:t>
            </a:r>
            <a:r>
              <a:rPr lang="zh-CN" altLang="en-US" sz="1120" dirty="0">
                <a:solidFill>
                  <a:srgbClr val="7A899F"/>
                </a:solidFill>
                <a:latin typeface="Microsoft YaHei" panose="020B0503020204020204" pitchFamily="34" charset="-122"/>
              </a:rPr>
              <a:t>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3923E7-BC0C-28C0-F0A6-4C4D46E2A0E7}"/>
              </a:ext>
            </a:extLst>
          </p:cNvPr>
          <p:cNvSpPr txBox="1"/>
          <p:nvPr/>
        </p:nvSpPr>
        <p:spPr>
          <a:xfrm>
            <a:off x="6159500" y="10033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从可用功能</a:t>
            </a:r>
          </a:p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到可验证体验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90A97A-0B69-22E2-C4D5-C8276BBBF512}"/>
              </a:ext>
            </a:extLst>
          </p:cNvPr>
          <p:cNvSpPr txBox="1"/>
          <p:nvPr/>
        </p:nvSpPr>
        <p:spPr>
          <a:xfrm>
            <a:off x="6184900" y="2603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80" b="1">
                <a:solidFill>
                  <a:srgbClr val="FFFF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680" b="1">
                <a:solidFill>
                  <a:srgbClr val="FFFFFF"/>
                </a:solidFill>
                <a:latin typeface="Microsoft YaHei" panose="020B0503020204020204" pitchFamily="34" charset="-122"/>
              </a:rPr>
              <a:t>阅读</a:t>
            </a:r>
          </a:p>
          <a:p>
            <a:r>
              <a:rPr lang="zh-CN" altLang="en-US" sz="1680" b="1">
                <a:solidFill>
                  <a:srgbClr val="FFFFFF"/>
                </a:solidFill>
                <a:latin typeface="Microsoft YaHei" panose="020B0503020204020204" pitchFamily="34" charset="-122"/>
              </a:rPr>
              <a:t>主题配置</a:t>
            </a:r>
          </a:p>
          <a:p>
            <a:r>
              <a:rPr lang="zh-CN" altLang="en-US" sz="1680" b="1">
                <a:solidFill>
                  <a:srgbClr val="FFFFFF"/>
                </a:solidFill>
                <a:latin typeface="Microsoft YaHei" panose="020B0503020204020204" pitchFamily="34" charset="-122"/>
              </a:rPr>
              <a:t>标签整理</a:t>
            </a:r>
          </a:p>
          <a:p>
            <a:r>
              <a:rPr lang="zh-CN" altLang="en-US" sz="1680" b="1">
                <a:solidFill>
                  <a:srgbClr val="FFFFFF"/>
                </a:solidFill>
                <a:latin typeface="Microsoft YaHei" panose="020B0503020204020204" pitchFamily="34" charset="-122"/>
              </a:rPr>
              <a:t>跨组互测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768049F-1E36-290A-4C60-791F83C03D28}"/>
              </a:ext>
            </a:extLst>
          </p:cNvPr>
          <p:cNvCxnSpPr/>
          <p:nvPr/>
        </p:nvCxnSpPr>
        <p:spPr>
          <a:xfrm>
            <a:off x="6184900" y="4140200"/>
            <a:ext cx="22225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E52352D-040C-6636-4A4B-25C6D4490EC0}"/>
              </a:ext>
            </a:extLst>
          </p:cNvPr>
          <p:cNvSpPr txBox="1"/>
          <p:nvPr/>
        </p:nvSpPr>
        <p:spPr>
          <a:xfrm>
            <a:off x="6184900" y="4343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10" b="1">
                <a:solidFill>
                  <a:srgbClr val="FFFFFF"/>
                </a:solidFill>
                <a:latin typeface="Microsoft YaHei" panose="020B0503020204020204" pitchFamily="34" charset="-122"/>
              </a:rPr>
              <a:t>WEEK 04</a:t>
            </a:r>
            <a:endParaRPr lang="zh-CN" altLang="en-US" sz="101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821914-29C0-6D65-6A74-7979CE941DF8}"/>
              </a:ext>
            </a:extLst>
          </p:cNvPr>
          <p:cNvSpPr txBox="1"/>
          <p:nvPr/>
        </p:nvSpPr>
        <p:spPr>
          <a:xfrm>
            <a:off x="660400" y="4889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760" b="1">
                <a:solidFill>
                  <a:srgbClr val="7A899F"/>
                </a:solidFill>
                <a:latin typeface="Microsoft YaHei" panose="020B0503020204020204" pitchFamily="34" charset="-122"/>
              </a:rPr>
              <a:t>MERCURY / WEEKLY UPDATE</a:t>
            </a:r>
            <a:endParaRPr lang="zh-CN" altLang="en-US" sz="76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DAB82D-48AB-0AE1-CA6B-8939565EC583}"/>
              </a:ext>
            </a:extLst>
          </p:cNvPr>
          <p:cNvSpPr txBox="1"/>
          <p:nvPr/>
        </p:nvSpPr>
        <p:spPr>
          <a:xfrm>
            <a:off x="8128000" y="4851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40" b="1">
                <a:solidFill>
                  <a:srgbClr val="7A899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84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505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25585E-653E-7CDF-B835-77E87119452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AFCA39-654F-28AC-B5DE-5C0937194562}"/>
              </a:ext>
            </a:extLst>
          </p:cNvPr>
          <p:cNvSpPr txBox="1"/>
          <p:nvPr/>
        </p:nvSpPr>
        <p:spPr>
          <a:xfrm>
            <a:off x="660400" y="304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01 / </a:t>
            </a:r>
            <a:r>
              <a:rPr lang="zh-CN" altLang="en-US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本周概览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4234C5-E439-AE13-6C63-A9A3780C0791}"/>
              </a:ext>
            </a:extLst>
          </p:cNvPr>
          <p:cNvSpPr txBox="1"/>
          <p:nvPr/>
        </p:nvSpPr>
        <p:spPr>
          <a:xfrm>
            <a:off x="660400" y="571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90" b="1">
                <a:solidFill>
                  <a:srgbClr val="101828"/>
                </a:solidFill>
                <a:latin typeface="Microsoft YaHei" panose="020B0503020204020204" pitchFamily="34" charset="-122"/>
              </a:rPr>
              <a:t>本周，我们共同推进了什么？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F4A380-B5E7-F646-EFF8-535C6C53288B}"/>
              </a:ext>
            </a:extLst>
          </p:cNvPr>
          <p:cNvSpPr txBox="1"/>
          <p:nvPr/>
        </p:nvSpPr>
        <p:spPr>
          <a:xfrm>
            <a:off x="660400" y="11176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>
                <a:solidFill>
                  <a:srgbClr val="475467"/>
                </a:solidFill>
                <a:latin typeface="Microsoft YaHei" panose="020B0503020204020204" pitchFamily="34" charset="-122"/>
              </a:rPr>
              <a:t>功能完善与质量验证同步进行，不以单一模块为中心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A6B9F4-A5AA-4A60-3A08-2A126A85F0CD}"/>
              </a:ext>
            </a:extLst>
          </p:cNvPr>
          <p:cNvSpPr txBox="1"/>
          <p:nvPr/>
        </p:nvSpPr>
        <p:spPr>
          <a:xfrm>
            <a:off x="736600" y="179070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820" b="1">
                <a:solidFill>
                  <a:srgbClr val="4F6B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4820" b="1">
              <a:solidFill>
                <a:srgbClr val="4F6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572DEA-DBB8-8DFE-BD84-EEB08E7D4EFE}"/>
              </a:ext>
            </a:extLst>
          </p:cNvPr>
          <p:cNvSpPr txBox="1"/>
          <p:nvPr/>
        </p:nvSpPr>
        <p:spPr>
          <a:xfrm>
            <a:off x="736600" y="26289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 b="1">
                <a:solidFill>
                  <a:srgbClr val="101828"/>
                </a:solidFill>
                <a:latin typeface="Microsoft YaHei" panose="020B0503020204020204" pitchFamily="34" charset="-122"/>
              </a:rPr>
              <a:t>项功能与体验更新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DA5811-85FF-26E6-A8E8-715D0183E884}"/>
              </a:ext>
            </a:extLst>
          </p:cNvPr>
          <p:cNvSpPr txBox="1"/>
          <p:nvPr/>
        </p:nvSpPr>
        <p:spPr>
          <a:xfrm>
            <a:off x="736600" y="29845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60">
                <a:solidFill>
                  <a:srgbClr val="475467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摘要、</a:t>
            </a:r>
            <a:r>
              <a:rPr lang="en-US" altLang="zh-CN" sz="1060">
                <a:solidFill>
                  <a:srgbClr val="475467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翻译、模型配置、主题配置、标签优化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EA6365A-ADCC-93FE-AB6C-7E51F18748CA}"/>
              </a:ext>
            </a:extLst>
          </p:cNvPr>
          <p:cNvCxnSpPr/>
          <p:nvPr/>
        </p:nvCxnSpPr>
        <p:spPr>
          <a:xfrm>
            <a:off x="2794000" y="1803400"/>
            <a:ext cx="0" cy="2120900"/>
          </a:xfrm>
          <a:prstGeom prst="line">
            <a:avLst/>
          </a:prstGeom>
          <a:ln w="12700">
            <a:solidFill>
              <a:srgbClr val="DD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BF64062-C18D-0A25-6B52-EEFF285235C3}"/>
              </a:ext>
            </a:extLst>
          </p:cNvPr>
          <p:cNvSpPr txBox="1"/>
          <p:nvPr/>
        </p:nvSpPr>
        <p:spPr>
          <a:xfrm>
            <a:off x="3213100" y="179070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820" b="1">
                <a:solidFill>
                  <a:srgbClr val="2ABE84"/>
                </a:solidFill>
                <a:latin typeface="Microsoft YaHei" panose="020B0503020204020204" pitchFamily="34" charset="-122"/>
              </a:rPr>
              <a:t>4</a:t>
            </a:r>
            <a:endParaRPr lang="zh-CN" altLang="en-US" sz="4820" b="1">
              <a:solidFill>
                <a:srgbClr val="2ABE8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81F366-1F9F-750B-0D20-3EFA2F7669A4}"/>
              </a:ext>
            </a:extLst>
          </p:cNvPr>
          <p:cNvSpPr txBox="1"/>
          <p:nvPr/>
        </p:nvSpPr>
        <p:spPr>
          <a:xfrm>
            <a:off x="3213100" y="26289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 b="1">
                <a:solidFill>
                  <a:srgbClr val="101828"/>
                </a:solidFill>
                <a:latin typeface="Microsoft YaHei" panose="020B0503020204020204" pitchFamily="34" charset="-122"/>
              </a:rPr>
              <a:t>组交叉测试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A39F7A-860A-74F3-652D-E1F016151AA4}"/>
              </a:ext>
            </a:extLst>
          </p:cNvPr>
          <p:cNvSpPr txBox="1"/>
          <p:nvPr/>
        </p:nvSpPr>
        <p:spPr>
          <a:xfrm>
            <a:off x="3213100" y="29845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每组体验其他组功能，记录问题并反馈 </a:t>
            </a:r>
            <a:r>
              <a:rPr lang="en-US" altLang="zh-CN" sz="1060">
                <a:solidFill>
                  <a:srgbClr val="475467"/>
                </a:solidFill>
                <a:latin typeface="Microsoft YaHei" panose="020B0503020204020204" pitchFamily="34" charset="-122"/>
              </a:rPr>
              <a:t>Bug</a:t>
            </a:r>
            <a:endParaRPr lang="zh-CN" altLang="en-US" sz="1060">
              <a:solidFill>
                <a:srgbClr val="475467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B8FC708-E324-6011-D913-1C0BA4C041FF}"/>
              </a:ext>
            </a:extLst>
          </p:cNvPr>
          <p:cNvCxnSpPr/>
          <p:nvPr/>
        </p:nvCxnSpPr>
        <p:spPr>
          <a:xfrm>
            <a:off x="5359400" y="1803400"/>
            <a:ext cx="0" cy="2120900"/>
          </a:xfrm>
          <a:prstGeom prst="line">
            <a:avLst/>
          </a:prstGeom>
          <a:ln w="12700">
            <a:solidFill>
              <a:srgbClr val="DD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CB4F6DB-2959-0156-16A0-6CD0F12455DE}"/>
              </a:ext>
            </a:extLst>
          </p:cNvPr>
          <p:cNvSpPr txBox="1"/>
          <p:nvPr/>
        </p:nvSpPr>
        <p:spPr>
          <a:xfrm>
            <a:off x="5816600" y="179070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820" b="1">
                <a:solidFill>
                  <a:srgbClr val="FF7657"/>
                </a:solidFill>
                <a:latin typeface="Microsoft YaHei" panose="020B0503020204020204" pitchFamily="34" charset="-122"/>
              </a:rPr>
              <a:t>1</a:t>
            </a:r>
            <a:endParaRPr lang="zh-CN" altLang="en-US" sz="4820" b="1">
              <a:solidFill>
                <a:srgbClr val="FF765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59AC19-630C-BE65-DDCE-DCAD0593821E}"/>
              </a:ext>
            </a:extLst>
          </p:cNvPr>
          <p:cNvSpPr txBox="1"/>
          <p:nvPr/>
        </p:nvSpPr>
        <p:spPr>
          <a:xfrm>
            <a:off x="5816600" y="26289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 b="1">
                <a:solidFill>
                  <a:srgbClr val="101828"/>
                </a:solidFill>
                <a:latin typeface="Microsoft YaHei" panose="020B0503020204020204" pitchFamily="34" charset="-122"/>
              </a:rPr>
              <a:t>条完整主链路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AD0DB4B-8BA3-04C4-E980-3C8EF1ECE352}"/>
              </a:ext>
            </a:extLst>
          </p:cNvPr>
          <p:cNvSpPr txBox="1"/>
          <p:nvPr/>
        </p:nvSpPr>
        <p:spPr>
          <a:xfrm>
            <a:off x="5816600" y="29845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订阅 → 阅读 → </a:t>
            </a:r>
            <a:r>
              <a:rPr lang="en-US" altLang="zh-CN" sz="1060">
                <a:solidFill>
                  <a:srgbClr val="475467"/>
                </a:solidFill>
                <a:latin typeface="Microsoft YaHei" panose="020B0503020204020204" pitchFamily="34" charset="-122"/>
              </a:rPr>
              <a:t>AI → </a:t>
            </a:r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标签 → 导出，进入联调验证阶段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39B7490-506A-0B75-301F-618263AB3405}"/>
              </a:ext>
            </a:extLst>
          </p:cNvPr>
          <p:cNvSpPr/>
          <p:nvPr/>
        </p:nvSpPr>
        <p:spPr>
          <a:xfrm>
            <a:off x="660400" y="4178300"/>
            <a:ext cx="7823200" cy="469900"/>
          </a:xfrm>
          <a:prstGeom prst="roundRect">
            <a:avLst/>
          </a:prstGeom>
          <a:solidFill>
            <a:srgbClr val="0A1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AEC383-D9BA-DCBD-DB6B-FD2C4BBA5A4D}"/>
              </a:ext>
            </a:extLst>
          </p:cNvPr>
          <p:cNvSpPr txBox="1"/>
          <p:nvPr/>
        </p:nvSpPr>
        <p:spPr>
          <a:xfrm>
            <a:off x="660400" y="4178300"/>
            <a:ext cx="782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本周关键词：可配置、可展示、可测试、可反馈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A1CA13-D6DC-8D99-DEB2-7E887DB0523F}"/>
              </a:ext>
            </a:extLst>
          </p:cNvPr>
          <p:cNvSpPr txBox="1"/>
          <p:nvPr/>
        </p:nvSpPr>
        <p:spPr>
          <a:xfrm>
            <a:off x="660400" y="4889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760" b="1">
                <a:solidFill>
                  <a:srgbClr val="7A899F"/>
                </a:solidFill>
                <a:latin typeface="Microsoft YaHei" panose="020B0503020204020204" pitchFamily="34" charset="-122"/>
              </a:rPr>
              <a:t>MERCURY / WEEKLY UPDATE</a:t>
            </a:r>
            <a:endParaRPr lang="zh-CN" altLang="en-US" sz="76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68C725-5C9B-493E-A43C-8BB39C36AA80}"/>
              </a:ext>
            </a:extLst>
          </p:cNvPr>
          <p:cNvSpPr txBox="1"/>
          <p:nvPr/>
        </p:nvSpPr>
        <p:spPr>
          <a:xfrm>
            <a:off x="8128000" y="4851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40" b="1">
                <a:solidFill>
                  <a:srgbClr val="7A899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84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0620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358389-BB87-A823-5391-789D19F8617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9569D9-5ACC-562A-26D9-06E75D47A4F6}"/>
              </a:ext>
            </a:extLst>
          </p:cNvPr>
          <p:cNvSpPr txBox="1"/>
          <p:nvPr/>
        </p:nvSpPr>
        <p:spPr>
          <a:xfrm>
            <a:off x="660400" y="304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02 / </a:t>
            </a:r>
            <a:r>
              <a:rPr lang="zh-CN" altLang="en-US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主要更新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A58DF3-9263-7AFB-C022-71922DD59F53}"/>
              </a:ext>
            </a:extLst>
          </p:cNvPr>
          <p:cNvSpPr txBox="1"/>
          <p:nvPr/>
        </p:nvSpPr>
        <p:spPr>
          <a:xfrm>
            <a:off x="660400" y="571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90" b="1">
                <a:solidFill>
                  <a:srgbClr val="101828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690" b="1">
                <a:solidFill>
                  <a:srgbClr val="101828"/>
                </a:solidFill>
                <a:latin typeface="Microsoft YaHei" panose="020B0503020204020204" pitchFamily="34" charset="-122"/>
              </a:rPr>
              <a:t>摘要与翻译进入实际使用链路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B01532-F3AC-617B-67F8-D59E1EBBB0E0}"/>
              </a:ext>
            </a:extLst>
          </p:cNvPr>
          <p:cNvSpPr txBox="1"/>
          <p:nvPr/>
        </p:nvSpPr>
        <p:spPr>
          <a:xfrm>
            <a:off x="660400" y="11176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>
                <a:solidFill>
                  <a:srgbClr val="475467"/>
                </a:solidFill>
                <a:latin typeface="Microsoft YaHei" panose="020B0503020204020204" pitchFamily="34" charset="-122"/>
              </a:rPr>
              <a:t>从文章正文出发，完成调用、展示与结果保存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8073F5-2AC4-6C07-66D8-C28831C5A56C}"/>
              </a:ext>
            </a:extLst>
          </p:cNvPr>
          <p:cNvSpPr txBox="1"/>
          <p:nvPr/>
        </p:nvSpPr>
        <p:spPr>
          <a:xfrm>
            <a:off x="660400" y="16764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 b="1">
                <a:solidFill>
                  <a:srgbClr val="101828"/>
                </a:solidFill>
                <a:latin typeface="Microsoft YaHei" panose="020B0503020204020204" pitchFamily="34" charset="-122"/>
              </a:rPr>
              <a:t>文章打开后，可以直接生成摘要或指定目标语言翻译。</a:t>
            </a:r>
            <a:r>
              <a:rPr lang="en-US" altLang="zh-CN" sz="1340" b="1">
                <a:solidFill>
                  <a:srgbClr val="101828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40" b="1">
                <a:solidFill>
                  <a:srgbClr val="101828"/>
                </a:solidFill>
                <a:latin typeface="Microsoft YaHei" panose="020B0503020204020204" pitchFamily="34" charset="-122"/>
              </a:rPr>
              <a:t>结果保存在文章记录中，后续导出时也能继续使用。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059A83E-E832-DE66-9998-61D7863CC57A}"/>
              </a:ext>
            </a:extLst>
          </p:cNvPr>
          <p:cNvSpPr/>
          <p:nvPr/>
        </p:nvSpPr>
        <p:spPr>
          <a:xfrm>
            <a:off x="660400" y="3060700"/>
            <a:ext cx="88900" cy="88900"/>
          </a:xfrm>
          <a:prstGeom prst="ellipse">
            <a:avLst/>
          </a:prstGeom>
          <a:solidFill>
            <a:srgbClr val="4F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7E1C0B-3CF2-D1E7-D116-4425CAEAB2A1}"/>
              </a:ext>
            </a:extLst>
          </p:cNvPr>
          <p:cNvSpPr txBox="1"/>
          <p:nvPr/>
        </p:nvSpPr>
        <p:spPr>
          <a:xfrm>
            <a:off x="660400" y="3060700"/>
            <a:ext cx="88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4F6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B42A47-5F2F-7DF6-6C45-9513296E8218}"/>
              </a:ext>
            </a:extLst>
          </p:cNvPr>
          <p:cNvSpPr txBox="1"/>
          <p:nvPr/>
        </p:nvSpPr>
        <p:spPr>
          <a:xfrm>
            <a:off x="876300" y="2997200"/>
            <a:ext cx="264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使用清洗后的 </a:t>
            </a:r>
            <a:r>
              <a:rPr lang="en-US" altLang="zh-CN" sz="1060">
                <a:solidFill>
                  <a:srgbClr val="475467"/>
                </a:solidFill>
                <a:latin typeface="Microsoft YaHei" panose="020B0503020204020204" pitchFamily="34" charset="-122"/>
              </a:rPr>
              <a:t>Markdown </a:t>
            </a:r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作为输入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24B9B27-77A1-EEB5-DF35-63E311267B3D}"/>
              </a:ext>
            </a:extLst>
          </p:cNvPr>
          <p:cNvSpPr/>
          <p:nvPr/>
        </p:nvSpPr>
        <p:spPr>
          <a:xfrm>
            <a:off x="660400" y="3467100"/>
            <a:ext cx="88900" cy="88900"/>
          </a:xfrm>
          <a:prstGeom prst="ellipse">
            <a:avLst/>
          </a:prstGeom>
          <a:solidFill>
            <a:srgbClr val="835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A79D8C-AB8F-9A95-F40D-B296022A7B95}"/>
              </a:ext>
            </a:extLst>
          </p:cNvPr>
          <p:cNvSpPr txBox="1"/>
          <p:nvPr/>
        </p:nvSpPr>
        <p:spPr>
          <a:xfrm>
            <a:off x="660400" y="3467100"/>
            <a:ext cx="88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835C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9DC22D-5C3D-3A32-D465-7BF36DD8A545}"/>
              </a:ext>
            </a:extLst>
          </p:cNvPr>
          <p:cNvSpPr txBox="1"/>
          <p:nvPr/>
        </p:nvSpPr>
        <p:spPr>
          <a:xfrm>
            <a:off x="876300" y="3403600"/>
            <a:ext cx="264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记录成功、失败与 </a:t>
            </a:r>
            <a:r>
              <a:rPr lang="en-US" altLang="zh-CN" sz="1060">
                <a:solidFill>
                  <a:srgbClr val="475467"/>
                </a:solidFill>
                <a:latin typeface="Microsoft YaHei" panose="020B0503020204020204" pitchFamily="34" charset="-122"/>
              </a:rPr>
              <a:t>Token </a:t>
            </a:r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用量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4102933-07FF-BCE5-6B09-1141E839BF0C}"/>
              </a:ext>
            </a:extLst>
          </p:cNvPr>
          <p:cNvSpPr/>
          <p:nvPr/>
        </p:nvSpPr>
        <p:spPr>
          <a:xfrm>
            <a:off x="660400" y="3873500"/>
            <a:ext cx="88900" cy="88900"/>
          </a:xfrm>
          <a:prstGeom prst="ellipse">
            <a:avLst/>
          </a:prstGeom>
          <a:solidFill>
            <a:srgbClr val="FF76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7951E1-864E-06D1-DD15-9BB65A735B30}"/>
              </a:ext>
            </a:extLst>
          </p:cNvPr>
          <p:cNvSpPr txBox="1"/>
          <p:nvPr/>
        </p:nvSpPr>
        <p:spPr>
          <a:xfrm>
            <a:off x="660400" y="3873500"/>
            <a:ext cx="88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FF765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B192DF-7018-0ACA-D69F-6E9BDA86249D}"/>
              </a:ext>
            </a:extLst>
          </p:cNvPr>
          <p:cNvSpPr txBox="1"/>
          <p:nvPr/>
        </p:nvSpPr>
        <p:spPr>
          <a:xfrm>
            <a:off x="876300" y="3810000"/>
            <a:ext cx="264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60">
                <a:solidFill>
                  <a:srgbClr val="475467"/>
                </a:solidFill>
                <a:latin typeface="Microsoft YaHei" panose="020B0503020204020204" pitchFamily="34" charset="-122"/>
              </a:rPr>
              <a:t>阅读界面直接展示结果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B90F02-7ED8-B7E1-5744-A46A588FE77E}"/>
              </a:ext>
            </a:extLst>
          </p:cNvPr>
          <p:cNvSpPr txBox="1"/>
          <p:nvPr/>
        </p:nvSpPr>
        <p:spPr>
          <a:xfrm>
            <a:off x="660400" y="4889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760" b="1">
                <a:solidFill>
                  <a:srgbClr val="7A899F"/>
                </a:solidFill>
                <a:latin typeface="Microsoft YaHei" panose="020B0503020204020204" pitchFamily="34" charset="-122"/>
              </a:rPr>
              <a:t>MERCURY / WEEKLY UPDATE</a:t>
            </a:r>
            <a:endParaRPr lang="zh-CN" altLang="en-US" sz="76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8C2D37-7404-2143-27E3-6DD35A85B10D}"/>
              </a:ext>
            </a:extLst>
          </p:cNvPr>
          <p:cNvSpPr txBox="1"/>
          <p:nvPr/>
        </p:nvSpPr>
        <p:spPr>
          <a:xfrm>
            <a:off x="8128000" y="4851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40" b="1">
                <a:solidFill>
                  <a:srgbClr val="7A899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84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02E9EEB9-1187-A91B-026B-8B0C8B18B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366952"/>
            <a:ext cx="5294076" cy="281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6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06D569-1AF8-F0F4-4C6B-46F81E0E74F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79695F-FC4F-7654-9C33-3312F699581A}"/>
              </a:ext>
            </a:extLst>
          </p:cNvPr>
          <p:cNvSpPr txBox="1"/>
          <p:nvPr/>
        </p:nvSpPr>
        <p:spPr>
          <a:xfrm>
            <a:off x="660400" y="304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03 / </a:t>
            </a:r>
            <a:r>
              <a:rPr lang="zh-CN" altLang="en-US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主要更新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1C2461-2E42-DEDD-8A01-176C81F35200}"/>
              </a:ext>
            </a:extLst>
          </p:cNvPr>
          <p:cNvSpPr txBox="1"/>
          <p:nvPr/>
        </p:nvSpPr>
        <p:spPr>
          <a:xfrm>
            <a:off x="660400" y="571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90" b="1">
                <a:solidFill>
                  <a:srgbClr val="101828"/>
                </a:solidFill>
                <a:latin typeface="Microsoft YaHei" panose="020B0503020204020204" pitchFamily="34" charset="-122"/>
              </a:rPr>
              <a:t>配置能力：模型接入与阅读主题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58DC34-027A-2D00-E606-3CB91CEB92BA}"/>
              </a:ext>
            </a:extLst>
          </p:cNvPr>
          <p:cNvSpPr txBox="1"/>
          <p:nvPr/>
        </p:nvSpPr>
        <p:spPr>
          <a:xfrm>
            <a:off x="660400" y="11176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>
                <a:solidFill>
                  <a:srgbClr val="475467"/>
                </a:solidFill>
                <a:latin typeface="Microsoft YaHei" panose="020B0503020204020204" pitchFamily="34" charset="-122"/>
              </a:rPr>
              <a:t>让 </a:t>
            </a:r>
            <a:r>
              <a:rPr lang="en-US" altLang="zh-CN" sz="1120">
                <a:solidFill>
                  <a:srgbClr val="475467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120">
                <a:solidFill>
                  <a:srgbClr val="475467"/>
                </a:solidFill>
                <a:latin typeface="Microsoft YaHei" panose="020B0503020204020204" pitchFamily="34" charset="-122"/>
              </a:rPr>
              <a:t>服务与阅读体验都可以根据环境和偏好调整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76ACC91-D4B8-A04F-315A-AD8BF342FECF}"/>
              </a:ext>
            </a:extLst>
          </p:cNvPr>
          <p:cNvSpPr/>
          <p:nvPr/>
        </p:nvSpPr>
        <p:spPr>
          <a:xfrm>
            <a:off x="660400" y="1574800"/>
            <a:ext cx="37084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16DA561-883F-2844-1629-02F5F902E473}"/>
              </a:ext>
            </a:extLst>
          </p:cNvPr>
          <p:cNvSpPr/>
          <p:nvPr/>
        </p:nvSpPr>
        <p:spPr>
          <a:xfrm>
            <a:off x="660400" y="1574800"/>
            <a:ext cx="3708400" cy="279400"/>
          </a:xfrm>
          <a:prstGeom prst="roundRect">
            <a:avLst/>
          </a:prstGeom>
          <a:solidFill>
            <a:srgbClr val="0A1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6C2E354-A485-A554-D8A8-78B190582C7F}"/>
              </a:ext>
            </a:extLst>
          </p:cNvPr>
          <p:cNvSpPr/>
          <p:nvPr/>
        </p:nvSpPr>
        <p:spPr>
          <a:xfrm>
            <a:off x="787400" y="1676400"/>
            <a:ext cx="76200" cy="76200"/>
          </a:xfrm>
          <a:prstGeom prst="ellipse">
            <a:avLst/>
          </a:prstGeom>
          <a:solidFill>
            <a:srgbClr val="FF76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F0C0E3-1D27-18E4-06AD-F0501595B123}"/>
              </a:ext>
            </a:extLst>
          </p:cNvPr>
          <p:cNvSpPr txBox="1"/>
          <p:nvPr/>
        </p:nvSpPr>
        <p:spPr>
          <a:xfrm>
            <a:off x="787400" y="1676400"/>
            <a:ext cx="7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FF765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B767AD7-4964-D8DB-4AB6-FE2032327144}"/>
              </a:ext>
            </a:extLst>
          </p:cNvPr>
          <p:cNvSpPr/>
          <p:nvPr/>
        </p:nvSpPr>
        <p:spPr>
          <a:xfrm>
            <a:off x="914400" y="1676400"/>
            <a:ext cx="76200" cy="76200"/>
          </a:xfrm>
          <a:prstGeom prst="ellipse">
            <a:avLst/>
          </a:prstGeom>
          <a:solidFill>
            <a:srgbClr val="F7C1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305-9095-74B2-3554-68308DE2207F}"/>
              </a:ext>
            </a:extLst>
          </p:cNvPr>
          <p:cNvSpPr txBox="1"/>
          <p:nvPr/>
        </p:nvSpPr>
        <p:spPr>
          <a:xfrm>
            <a:off x="914400" y="1676400"/>
            <a:ext cx="7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F7C1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FB2F5E8-FFC9-849F-94EF-CE4E1393F505}"/>
              </a:ext>
            </a:extLst>
          </p:cNvPr>
          <p:cNvSpPr/>
          <p:nvPr/>
        </p:nvSpPr>
        <p:spPr>
          <a:xfrm>
            <a:off x="1041400" y="1676400"/>
            <a:ext cx="76200" cy="76200"/>
          </a:xfrm>
          <a:prstGeom prst="ellipse">
            <a:avLst/>
          </a:prstGeom>
          <a:solidFill>
            <a:srgbClr val="2AB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EB365C-5311-FDA6-9C60-5DC9D16F2039}"/>
              </a:ext>
            </a:extLst>
          </p:cNvPr>
          <p:cNvSpPr txBox="1"/>
          <p:nvPr/>
        </p:nvSpPr>
        <p:spPr>
          <a:xfrm>
            <a:off x="1041400" y="1676400"/>
            <a:ext cx="7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2ABE8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081C9C-9245-AB1E-9E96-756C4E41EA3E}"/>
              </a:ext>
            </a:extLst>
          </p:cNvPr>
          <p:cNvSpPr txBox="1"/>
          <p:nvPr/>
        </p:nvSpPr>
        <p:spPr>
          <a:xfrm>
            <a:off x="1270000" y="16256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20" b="1">
                <a:solidFill>
                  <a:srgbClr val="FFFFFF"/>
                </a:solidFill>
                <a:latin typeface="Microsoft YaHei" panose="020B0503020204020204" pitchFamily="34" charset="-122"/>
              </a:rPr>
              <a:t>第三方模型配置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EE9823A-D435-98F8-1A7F-24B5C3C11C91}"/>
              </a:ext>
            </a:extLst>
          </p:cNvPr>
          <p:cNvSpPr/>
          <p:nvPr/>
        </p:nvSpPr>
        <p:spPr>
          <a:xfrm>
            <a:off x="4775200" y="1574800"/>
            <a:ext cx="37084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EB66D02-9B1D-73A3-CF44-FEF19C13F31D}"/>
              </a:ext>
            </a:extLst>
          </p:cNvPr>
          <p:cNvSpPr/>
          <p:nvPr/>
        </p:nvSpPr>
        <p:spPr>
          <a:xfrm>
            <a:off x="4775200" y="1574800"/>
            <a:ext cx="3708400" cy="279400"/>
          </a:xfrm>
          <a:prstGeom prst="roundRect">
            <a:avLst/>
          </a:prstGeom>
          <a:solidFill>
            <a:srgbClr val="0A1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3C50E3C-ACB7-897E-3BC5-74787AFE5E06}"/>
              </a:ext>
            </a:extLst>
          </p:cNvPr>
          <p:cNvSpPr/>
          <p:nvPr/>
        </p:nvSpPr>
        <p:spPr>
          <a:xfrm>
            <a:off x="4902200" y="1676400"/>
            <a:ext cx="76200" cy="76200"/>
          </a:xfrm>
          <a:prstGeom prst="ellipse">
            <a:avLst/>
          </a:prstGeom>
          <a:solidFill>
            <a:srgbClr val="FF76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7FB508-1D74-A478-0282-B3E7E896BBA7}"/>
              </a:ext>
            </a:extLst>
          </p:cNvPr>
          <p:cNvSpPr txBox="1"/>
          <p:nvPr/>
        </p:nvSpPr>
        <p:spPr>
          <a:xfrm>
            <a:off x="4902200" y="1676400"/>
            <a:ext cx="7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FF765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F3C518F-3D02-DC3E-73B9-C584C3BC46CD}"/>
              </a:ext>
            </a:extLst>
          </p:cNvPr>
          <p:cNvSpPr/>
          <p:nvPr/>
        </p:nvSpPr>
        <p:spPr>
          <a:xfrm>
            <a:off x="5029200" y="1676400"/>
            <a:ext cx="76200" cy="76200"/>
          </a:xfrm>
          <a:prstGeom prst="ellipse">
            <a:avLst/>
          </a:prstGeom>
          <a:solidFill>
            <a:srgbClr val="F7C1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78BDFE-4ACC-4E79-1304-35899CA45DB9}"/>
              </a:ext>
            </a:extLst>
          </p:cNvPr>
          <p:cNvSpPr txBox="1"/>
          <p:nvPr/>
        </p:nvSpPr>
        <p:spPr>
          <a:xfrm>
            <a:off x="5029200" y="1676400"/>
            <a:ext cx="7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F7C1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E070783-2341-883B-F6BB-CC036F443C57}"/>
              </a:ext>
            </a:extLst>
          </p:cNvPr>
          <p:cNvSpPr/>
          <p:nvPr/>
        </p:nvSpPr>
        <p:spPr>
          <a:xfrm>
            <a:off x="5156200" y="1676400"/>
            <a:ext cx="76200" cy="76200"/>
          </a:xfrm>
          <a:prstGeom prst="ellipse">
            <a:avLst/>
          </a:prstGeom>
          <a:solidFill>
            <a:srgbClr val="2AB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4E3F29F-9E6F-7023-34D0-AEC4D9219806}"/>
              </a:ext>
            </a:extLst>
          </p:cNvPr>
          <p:cNvSpPr txBox="1"/>
          <p:nvPr/>
        </p:nvSpPr>
        <p:spPr>
          <a:xfrm>
            <a:off x="5156200" y="1676400"/>
            <a:ext cx="7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2ABE8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833FFDD-DBA7-8435-40CD-A24FD96F0EEF}"/>
              </a:ext>
            </a:extLst>
          </p:cNvPr>
          <p:cNvSpPr txBox="1"/>
          <p:nvPr/>
        </p:nvSpPr>
        <p:spPr>
          <a:xfrm>
            <a:off x="5384800" y="16256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20" b="1">
                <a:solidFill>
                  <a:srgbClr val="FFFFFF"/>
                </a:solidFill>
                <a:latin typeface="Microsoft YaHei" panose="020B0503020204020204" pitchFamily="34" charset="-122"/>
              </a:rPr>
              <a:t>深色 </a:t>
            </a:r>
            <a:r>
              <a:rPr lang="en-US" altLang="zh-CN" sz="820" b="1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20" b="1">
                <a:solidFill>
                  <a:srgbClr val="FFFFFF"/>
                </a:solidFill>
                <a:latin typeface="Microsoft YaHei" panose="020B0503020204020204" pitchFamily="34" charset="-122"/>
              </a:rPr>
              <a:t>浅色主题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348FF43-2231-4FC3-40AE-A1E93D2FC586}"/>
              </a:ext>
            </a:extLst>
          </p:cNvPr>
          <p:cNvSpPr/>
          <p:nvPr/>
        </p:nvSpPr>
        <p:spPr>
          <a:xfrm>
            <a:off x="939800" y="4406900"/>
            <a:ext cx="1600200" cy="279400"/>
          </a:xfrm>
          <a:prstGeom prst="roundRect">
            <a:avLst/>
          </a:prstGeom>
          <a:solidFill>
            <a:srgbClr val="E6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55214E2-6E35-771E-DE2E-CD0CBDEDF2F2}"/>
              </a:ext>
            </a:extLst>
          </p:cNvPr>
          <p:cNvSpPr txBox="1"/>
          <p:nvPr/>
        </p:nvSpPr>
        <p:spPr>
          <a:xfrm>
            <a:off x="939800" y="44069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4F6BFF"/>
                </a:solidFill>
                <a:latin typeface="Microsoft YaHei" panose="020B0503020204020204" pitchFamily="34" charset="-122"/>
              </a:rPr>
              <a:t>OpenAI-compatible</a:t>
            </a:r>
            <a:endParaRPr lang="zh-CN" altLang="en-US" sz="900" b="1">
              <a:solidFill>
                <a:srgbClr val="4F6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F23E89D-69A5-B11D-A664-97FCF6FAA32B}"/>
              </a:ext>
            </a:extLst>
          </p:cNvPr>
          <p:cNvSpPr/>
          <p:nvPr/>
        </p:nvSpPr>
        <p:spPr>
          <a:xfrm>
            <a:off x="2628900" y="4406900"/>
            <a:ext cx="1422400" cy="279400"/>
          </a:xfrm>
          <a:prstGeom prst="roundRect">
            <a:avLst/>
          </a:prstGeom>
          <a:solidFill>
            <a:srgbClr val="DD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1A3E3EA-016C-2DA9-4080-5F75453ED0D9}"/>
              </a:ext>
            </a:extLst>
          </p:cNvPr>
          <p:cNvSpPr txBox="1"/>
          <p:nvPr/>
        </p:nvSpPr>
        <p:spPr>
          <a:xfrm>
            <a:off x="2628900" y="44069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900" b="1">
                <a:solidFill>
                  <a:srgbClr val="2ABE84"/>
                </a:solidFill>
                <a:latin typeface="Microsoft YaHei" panose="020B0503020204020204" pitchFamily="34" charset="-122"/>
              </a:rPr>
              <a:t>配置本地持久化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6014CC8-FD31-7B6A-7F56-242E4A17D0D4}"/>
              </a:ext>
            </a:extLst>
          </p:cNvPr>
          <p:cNvSpPr/>
          <p:nvPr/>
        </p:nvSpPr>
        <p:spPr>
          <a:xfrm>
            <a:off x="5067300" y="4406900"/>
            <a:ext cx="1168400" cy="279400"/>
          </a:xfrm>
          <a:prstGeom prst="roundRect">
            <a:avLst/>
          </a:prstGeom>
          <a:solidFill>
            <a:srgbClr val="FFF6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DDF6131-EF4A-0113-E851-E24728EE3EA1}"/>
              </a:ext>
            </a:extLst>
          </p:cNvPr>
          <p:cNvSpPr txBox="1"/>
          <p:nvPr/>
        </p:nvSpPr>
        <p:spPr>
          <a:xfrm>
            <a:off x="5067300" y="44069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900" b="1">
                <a:solidFill>
                  <a:srgbClr val="AB740F"/>
                </a:solidFill>
                <a:latin typeface="Microsoft YaHei" panose="020B0503020204020204" pitchFamily="34" charset="-122"/>
              </a:rPr>
              <a:t>字体与行距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1DDF683-9D64-F940-F509-008AD93476A4}"/>
              </a:ext>
            </a:extLst>
          </p:cNvPr>
          <p:cNvSpPr/>
          <p:nvPr/>
        </p:nvSpPr>
        <p:spPr>
          <a:xfrm>
            <a:off x="6350000" y="4406900"/>
            <a:ext cx="1181100" cy="279400"/>
          </a:xfrm>
          <a:prstGeom prst="roundRect">
            <a:avLst/>
          </a:prstGeom>
          <a:solidFill>
            <a:srgbClr val="ED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A3C2AF2-A551-F185-3071-0C0E5D53A729}"/>
              </a:ext>
            </a:extLst>
          </p:cNvPr>
          <p:cNvSpPr txBox="1"/>
          <p:nvPr/>
        </p:nvSpPr>
        <p:spPr>
          <a:xfrm>
            <a:off x="6350000" y="4406900"/>
            <a:ext cx="1181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835CF6"/>
                </a:solidFill>
                <a:latin typeface="Microsoft YaHei" panose="020B0503020204020204" pitchFamily="34" charset="-122"/>
              </a:rPr>
              <a:t>Light / Dark</a:t>
            </a:r>
            <a:endParaRPr lang="zh-CN" altLang="en-US" sz="900" b="1">
              <a:solidFill>
                <a:srgbClr val="835C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37C9F7B-8C3F-802A-865E-FB408EC9523F}"/>
              </a:ext>
            </a:extLst>
          </p:cNvPr>
          <p:cNvSpPr/>
          <p:nvPr/>
        </p:nvSpPr>
        <p:spPr>
          <a:xfrm>
            <a:off x="7632700" y="4406900"/>
            <a:ext cx="812800" cy="279400"/>
          </a:xfrm>
          <a:prstGeom prst="roundRect">
            <a:avLst/>
          </a:prstGeom>
          <a:solidFill>
            <a:srgbClr val="FFE8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520A946-D00D-141C-7145-805764C55A54}"/>
              </a:ext>
            </a:extLst>
          </p:cNvPr>
          <p:cNvSpPr txBox="1"/>
          <p:nvPr/>
        </p:nvSpPr>
        <p:spPr>
          <a:xfrm>
            <a:off x="7632700" y="4406900"/>
            <a:ext cx="81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900" b="1">
                <a:solidFill>
                  <a:srgbClr val="FF7657"/>
                </a:solidFill>
                <a:latin typeface="Microsoft YaHei" panose="020B0503020204020204" pitchFamily="34" charset="-122"/>
              </a:rPr>
              <a:t>即时应用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372D96F-2F00-CD05-4357-A9A7F1125B88}"/>
              </a:ext>
            </a:extLst>
          </p:cNvPr>
          <p:cNvSpPr txBox="1"/>
          <p:nvPr/>
        </p:nvSpPr>
        <p:spPr>
          <a:xfrm>
            <a:off x="660400" y="4889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760" b="1">
                <a:solidFill>
                  <a:srgbClr val="7A899F"/>
                </a:solidFill>
                <a:latin typeface="Microsoft YaHei" panose="020B0503020204020204" pitchFamily="34" charset="-122"/>
              </a:rPr>
              <a:t>MERCURY / WEEKLY UPDATE</a:t>
            </a:r>
            <a:endParaRPr lang="zh-CN" altLang="en-US" sz="76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AAE10EB-10B9-59E7-1383-BEA0FEAFAD64}"/>
              </a:ext>
            </a:extLst>
          </p:cNvPr>
          <p:cNvSpPr txBox="1"/>
          <p:nvPr/>
        </p:nvSpPr>
        <p:spPr>
          <a:xfrm>
            <a:off x="8128000" y="4851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40" b="1">
                <a:solidFill>
                  <a:srgbClr val="7A899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84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0D5AACEB-B32F-5F10-63E7-D931242C3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10" y="1853000"/>
            <a:ext cx="3791379" cy="2386399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8EB084AB-5B3B-5101-A792-4C0DE932C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148" y="1842101"/>
            <a:ext cx="4020878" cy="240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03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2647B4-94AB-944C-6E73-6DC05CA81B6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155661-676C-B61E-1773-416A329BAA47}"/>
              </a:ext>
            </a:extLst>
          </p:cNvPr>
          <p:cNvSpPr txBox="1"/>
          <p:nvPr/>
        </p:nvSpPr>
        <p:spPr>
          <a:xfrm>
            <a:off x="660400" y="304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04 / </a:t>
            </a:r>
            <a:r>
              <a:rPr lang="zh-CN" altLang="en-US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主要更新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5CAFFD-9F43-DDB5-02CB-49BD679FC8BC}"/>
              </a:ext>
            </a:extLst>
          </p:cNvPr>
          <p:cNvSpPr txBox="1"/>
          <p:nvPr/>
        </p:nvSpPr>
        <p:spPr>
          <a:xfrm>
            <a:off x="660400" y="571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90" b="1">
                <a:solidFill>
                  <a:srgbClr val="FFFFFF"/>
                </a:solidFill>
                <a:latin typeface="Microsoft YaHei" panose="020B0503020204020204" pitchFamily="34" charset="-122"/>
              </a:rPr>
              <a:t>标签能力从“添加”走向“整理”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834297-57C7-FA46-1DDC-EDB3E46B61B9}"/>
              </a:ext>
            </a:extLst>
          </p:cNvPr>
          <p:cNvSpPr txBox="1"/>
          <p:nvPr/>
        </p:nvSpPr>
        <p:spPr>
          <a:xfrm>
            <a:off x="660400" y="11176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>
                <a:solidFill>
                  <a:srgbClr val="B3BED2"/>
                </a:solidFill>
                <a:latin typeface="Microsoft YaHei" panose="020B0503020204020204" pitchFamily="34" charset="-122"/>
              </a:rPr>
              <a:t>创建、去重、绑定、筛选，并进入 </a:t>
            </a:r>
            <a:r>
              <a:rPr lang="en-US" altLang="zh-CN" sz="1120">
                <a:solidFill>
                  <a:srgbClr val="B3BED2"/>
                </a:solidFill>
                <a:latin typeface="Microsoft YaHei" panose="020B0503020204020204" pitchFamily="34" charset="-122"/>
              </a:rPr>
              <a:t>Markdown </a:t>
            </a:r>
            <a:r>
              <a:rPr lang="zh-CN" altLang="en-US" sz="1120">
                <a:solidFill>
                  <a:srgbClr val="B3BED2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23D4576-A89D-5971-8CD7-0D7FEF9F25AD}"/>
              </a:ext>
            </a:extLst>
          </p:cNvPr>
          <p:cNvSpPr/>
          <p:nvPr/>
        </p:nvSpPr>
        <p:spPr>
          <a:xfrm>
            <a:off x="660400" y="1574800"/>
            <a:ext cx="4800600" cy="288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D7EEB7-2FF6-5586-9543-549F59056C53}"/>
              </a:ext>
            </a:extLst>
          </p:cNvPr>
          <p:cNvSpPr/>
          <p:nvPr/>
        </p:nvSpPr>
        <p:spPr>
          <a:xfrm>
            <a:off x="660400" y="1574800"/>
            <a:ext cx="4800600" cy="279400"/>
          </a:xfrm>
          <a:prstGeom prst="roundRect">
            <a:avLst/>
          </a:prstGeom>
          <a:solidFill>
            <a:srgbClr val="0A1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750FC4E-5361-EF61-C56D-FE53909FB6F7}"/>
              </a:ext>
            </a:extLst>
          </p:cNvPr>
          <p:cNvSpPr/>
          <p:nvPr/>
        </p:nvSpPr>
        <p:spPr>
          <a:xfrm>
            <a:off x="787400" y="1676400"/>
            <a:ext cx="76200" cy="76200"/>
          </a:xfrm>
          <a:prstGeom prst="ellipse">
            <a:avLst/>
          </a:prstGeom>
          <a:solidFill>
            <a:srgbClr val="FF76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68E50E-3E2A-37BB-BE5F-A6999AB17E29}"/>
              </a:ext>
            </a:extLst>
          </p:cNvPr>
          <p:cNvSpPr txBox="1"/>
          <p:nvPr/>
        </p:nvSpPr>
        <p:spPr>
          <a:xfrm>
            <a:off x="787400" y="1676400"/>
            <a:ext cx="7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FF765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2464AAA-CBCB-8CC3-6D05-0A97D4D54738}"/>
              </a:ext>
            </a:extLst>
          </p:cNvPr>
          <p:cNvSpPr/>
          <p:nvPr/>
        </p:nvSpPr>
        <p:spPr>
          <a:xfrm>
            <a:off x="914400" y="1676400"/>
            <a:ext cx="76200" cy="76200"/>
          </a:xfrm>
          <a:prstGeom prst="ellipse">
            <a:avLst/>
          </a:prstGeom>
          <a:solidFill>
            <a:srgbClr val="F7C1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71CD4D-C07E-3AB2-316C-37CCE097663D}"/>
              </a:ext>
            </a:extLst>
          </p:cNvPr>
          <p:cNvSpPr txBox="1"/>
          <p:nvPr/>
        </p:nvSpPr>
        <p:spPr>
          <a:xfrm>
            <a:off x="914400" y="1676400"/>
            <a:ext cx="7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F7C1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1C4F411-4ACC-5693-0C3A-DA52EE94CD18}"/>
              </a:ext>
            </a:extLst>
          </p:cNvPr>
          <p:cNvSpPr/>
          <p:nvPr/>
        </p:nvSpPr>
        <p:spPr>
          <a:xfrm>
            <a:off x="1041400" y="1676400"/>
            <a:ext cx="76200" cy="76200"/>
          </a:xfrm>
          <a:prstGeom prst="ellipse">
            <a:avLst/>
          </a:prstGeom>
          <a:solidFill>
            <a:srgbClr val="2AB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842101-0818-62F5-4715-71EB9C18F2D0}"/>
              </a:ext>
            </a:extLst>
          </p:cNvPr>
          <p:cNvSpPr txBox="1"/>
          <p:nvPr/>
        </p:nvSpPr>
        <p:spPr>
          <a:xfrm>
            <a:off x="1041400" y="1676400"/>
            <a:ext cx="7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" b="1">
              <a:solidFill>
                <a:srgbClr val="2ABE8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75114F-ADA1-81CC-7AD4-5315D577D937}"/>
              </a:ext>
            </a:extLst>
          </p:cNvPr>
          <p:cNvSpPr txBox="1"/>
          <p:nvPr/>
        </p:nvSpPr>
        <p:spPr>
          <a:xfrm>
            <a:off x="1270000" y="1625600"/>
            <a:ext cx="403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20" b="1">
                <a:solidFill>
                  <a:srgbClr val="FFFFFF"/>
                </a:solidFill>
                <a:latin typeface="Microsoft YaHei" panose="020B0503020204020204" pitchFamily="34" charset="-122"/>
              </a:rPr>
              <a:t>标签管理实际界面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1EB35EF-D88F-B1F1-A6D4-1A3BC42C3F63}"/>
              </a:ext>
            </a:extLst>
          </p:cNvPr>
          <p:cNvSpPr txBox="1"/>
          <p:nvPr/>
        </p:nvSpPr>
        <p:spPr>
          <a:xfrm>
            <a:off x="5905500" y="1625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整理路径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C5B0216-208B-9B4A-7998-331AA260108A}"/>
              </a:ext>
            </a:extLst>
          </p:cNvPr>
          <p:cNvSpPr/>
          <p:nvPr/>
        </p:nvSpPr>
        <p:spPr>
          <a:xfrm>
            <a:off x="5905500" y="2095500"/>
            <a:ext cx="342900" cy="342900"/>
          </a:xfrm>
          <a:prstGeom prst="ellipse">
            <a:avLst/>
          </a:prstGeom>
          <a:solidFill>
            <a:srgbClr val="1ABE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3DB7F4-6251-9854-CEBD-27A1BB0EC18A}"/>
              </a:ext>
            </a:extLst>
          </p:cNvPr>
          <p:cNvSpPr txBox="1"/>
          <p:nvPr/>
        </p:nvSpPr>
        <p:spPr>
          <a:xfrm>
            <a:off x="5905500" y="20955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4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84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CA7928-203B-6B80-A63C-2D0960F92977}"/>
              </a:ext>
            </a:extLst>
          </p:cNvPr>
          <p:cNvSpPr txBox="1"/>
          <p:nvPr/>
        </p:nvSpPr>
        <p:spPr>
          <a:xfrm>
            <a:off x="6413500" y="2120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40" b="1">
                <a:solidFill>
                  <a:srgbClr val="FFFFFF"/>
                </a:solidFill>
                <a:latin typeface="Microsoft YaHei" panose="020B0503020204020204" pitchFamily="34" charset="-122"/>
              </a:rPr>
              <a:t>创建 </a:t>
            </a:r>
            <a:r>
              <a:rPr lang="en-US" altLang="zh-CN" sz="1140" b="1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40" b="1">
                <a:solidFill>
                  <a:srgbClr val="FFFFFF"/>
                </a:solidFill>
                <a:latin typeface="Microsoft YaHei" panose="020B0503020204020204" pitchFamily="34" charset="-122"/>
              </a:rPr>
              <a:t>复用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7978823-501A-5F45-2F9B-75F1D0BD2D92}"/>
              </a:ext>
            </a:extLst>
          </p:cNvPr>
          <p:cNvCxnSpPr/>
          <p:nvPr/>
        </p:nvCxnSpPr>
        <p:spPr>
          <a:xfrm>
            <a:off x="6070600" y="2438400"/>
            <a:ext cx="0" cy="203200"/>
          </a:xfrm>
          <a:prstGeom prst="line">
            <a:avLst/>
          </a:prstGeom>
          <a:ln w="15240">
            <a:solidFill>
              <a:srgbClr val="536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A1A731AB-21D4-162F-8A82-49453D8CA759}"/>
              </a:ext>
            </a:extLst>
          </p:cNvPr>
          <p:cNvSpPr/>
          <p:nvPr/>
        </p:nvSpPr>
        <p:spPr>
          <a:xfrm>
            <a:off x="5905500" y="2654300"/>
            <a:ext cx="342900" cy="342900"/>
          </a:xfrm>
          <a:prstGeom prst="ellipse">
            <a:avLst/>
          </a:prstGeom>
          <a:solidFill>
            <a:srgbClr val="4F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0766CC-D879-0DBE-A3E5-1807F5A64AA3}"/>
              </a:ext>
            </a:extLst>
          </p:cNvPr>
          <p:cNvSpPr txBox="1"/>
          <p:nvPr/>
        </p:nvSpPr>
        <p:spPr>
          <a:xfrm>
            <a:off x="5905500" y="26543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4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84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17A6865-40FA-8099-9BAF-C96F50AB7ADC}"/>
              </a:ext>
            </a:extLst>
          </p:cNvPr>
          <p:cNvSpPr txBox="1"/>
          <p:nvPr/>
        </p:nvSpPr>
        <p:spPr>
          <a:xfrm>
            <a:off x="6413500" y="26797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40" b="1">
                <a:solidFill>
                  <a:srgbClr val="FFFFFF"/>
                </a:solidFill>
                <a:latin typeface="Microsoft YaHei" panose="020B0503020204020204" pitchFamily="34" charset="-122"/>
              </a:rPr>
              <a:t>绑定文章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AF21946-0377-3E92-8D16-943276899C74}"/>
              </a:ext>
            </a:extLst>
          </p:cNvPr>
          <p:cNvCxnSpPr/>
          <p:nvPr/>
        </p:nvCxnSpPr>
        <p:spPr>
          <a:xfrm>
            <a:off x="6070600" y="2997200"/>
            <a:ext cx="0" cy="203200"/>
          </a:xfrm>
          <a:prstGeom prst="line">
            <a:avLst/>
          </a:prstGeom>
          <a:ln w="15240">
            <a:solidFill>
              <a:srgbClr val="536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065327AF-F60F-5FF7-0681-5AC33C4B5F42}"/>
              </a:ext>
            </a:extLst>
          </p:cNvPr>
          <p:cNvSpPr/>
          <p:nvPr/>
        </p:nvSpPr>
        <p:spPr>
          <a:xfrm>
            <a:off x="5905500" y="3213100"/>
            <a:ext cx="342900" cy="342900"/>
          </a:xfrm>
          <a:prstGeom prst="ellipse">
            <a:avLst/>
          </a:prstGeom>
          <a:solidFill>
            <a:srgbClr val="835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FCF4C40-419E-6A76-BC5F-5CF694C6BB8A}"/>
              </a:ext>
            </a:extLst>
          </p:cNvPr>
          <p:cNvSpPr txBox="1"/>
          <p:nvPr/>
        </p:nvSpPr>
        <p:spPr>
          <a:xfrm>
            <a:off x="5905500" y="32131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4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84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66B8CA8-1F80-84E2-C6D7-E95541E96130}"/>
              </a:ext>
            </a:extLst>
          </p:cNvPr>
          <p:cNvSpPr txBox="1"/>
          <p:nvPr/>
        </p:nvSpPr>
        <p:spPr>
          <a:xfrm>
            <a:off x="6413500" y="3238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40" b="1">
                <a:solidFill>
                  <a:srgbClr val="FFFFFF"/>
                </a:solidFill>
                <a:latin typeface="Microsoft YaHei" panose="020B0503020204020204" pitchFamily="34" charset="-122"/>
              </a:rPr>
              <a:t>按标签筛选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06FD4BE-89FC-00D3-9364-CDCCDAF04738}"/>
              </a:ext>
            </a:extLst>
          </p:cNvPr>
          <p:cNvCxnSpPr/>
          <p:nvPr/>
        </p:nvCxnSpPr>
        <p:spPr>
          <a:xfrm>
            <a:off x="6070600" y="3556000"/>
            <a:ext cx="0" cy="203200"/>
          </a:xfrm>
          <a:prstGeom prst="line">
            <a:avLst/>
          </a:prstGeom>
          <a:ln w="15240">
            <a:solidFill>
              <a:srgbClr val="536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3524611-3E89-C951-D5BE-844C994732AC}"/>
              </a:ext>
            </a:extLst>
          </p:cNvPr>
          <p:cNvSpPr/>
          <p:nvPr/>
        </p:nvSpPr>
        <p:spPr>
          <a:xfrm>
            <a:off x="5905500" y="3771900"/>
            <a:ext cx="342900" cy="342900"/>
          </a:xfrm>
          <a:prstGeom prst="ellipse">
            <a:avLst/>
          </a:prstGeom>
          <a:solidFill>
            <a:srgbClr val="2AB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F5CD43-3827-1BAF-F126-89DB8A5BAD9B}"/>
              </a:ext>
            </a:extLst>
          </p:cNvPr>
          <p:cNvSpPr txBox="1"/>
          <p:nvPr/>
        </p:nvSpPr>
        <p:spPr>
          <a:xfrm>
            <a:off x="5905500" y="37719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4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84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F7B142B-6B9D-A192-9001-4A467CD6AAA4}"/>
              </a:ext>
            </a:extLst>
          </p:cNvPr>
          <p:cNvSpPr txBox="1"/>
          <p:nvPr/>
        </p:nvSpPr>
        <p:spPr>
          <a:xfrm>
            <a:off x="6413500" y="3797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40" b="1">
                <a:solidFill>
                  <a:srgbClr val="FFFFFF"/>
                </a:solidFill>
                <a:latin typeface="Microsoft YaHei" panose="020B0503020204020204" pitchFamily="34" charset="-122"/>
              </a:rPr>
              <a:t>写入导出文件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7D7876E-841E-BA07-280B-BAB4292F850F}"/>
              </a:ext>
            </a:extLst>
          </p:cNvPr>
          <p:cNvSpPr txBox="1"/>
          <p:nvPr/>
        </p:nvSpPr>
        <p:spPr>
          <a:xfrm>
            <a:off x="5905500" y="4381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AEBBD1"/>
                </a:solidFill>
                <a:latin typeface="Microsoft YaHei" panose="020B0503020204020204" pitchFamily="34" charset="-122"/>
              </a:rPr>
              <a:t>标签最终成为阅读分类和知识沉淀的一部分。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4E1C58B-846C-B327-4101-DA5BDB74CD37}"/>
              </a:ext>
            </a:extLst>
          </p:cNvPr>
          <p:cNvSpPr txBox="1"/>
          <p:nvPr/>
        </p:nvSpPr>
        <p:spPr>
          <a:xfrm>
            <a:off x="660400" y="4889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760" b="1">
                <a:solidFill>
                  <a:srgbClr val="7E8EAA"/>
                </a:solidFill>
                <a:latin typeface="Microsoft YaHei" panose="020B0503020204020204" pitchFamily="34" charset="-122"/>
              </a:rPr>
              <a:t>MERCURY / WEEKLY UPDATE</a:t>
            </a:r>
            <a:endParaRPr lang="zh-CN" altLang="en-US" sz="760" b="1">
              <a:solidFill>
                <a:srgbClr val="7E8EA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927DF91-86EC-4F1E-D701-CBAF90F81D50}"/>
              </a:ext>
            </a:extLst>
          </p:cNvPr>
          <p:cNvSpPr txBox="1"/>
          <p:nvPr/>
        </p:nvSpPr>
        <p:spPr>
          <a:xfrm>
            <a:off x="8128000" y="4851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40" b="1">
                <a:solidFill>
                  <a:srgbClr val="7E8EAA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840" b="1">
              <a:solidFill>
                <a:srgbClr val="7E8EAA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F17123F0-0517-6D50-9F03-24D68B55B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9" y="1851067"/>
            <a:ext cx="4839856" cy="26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3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7571DC-B9AC-2B04-75EC-8FEC4E72238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E34B6E-561C-44EA-D2C4-BDCDB238573C}"/>
              </a:ext>
            </a:extLst>
          </p:cNvPr>
          <p:cNvSpPr txBox="1"/>
          <p:nvPr/>
        </p:nvSpPr>
        <p:spPr>
          <a:xfrm>
            <a:off x="660400" y="304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05 / </a:t>
            </a:r>
            <a:r>
              <a:rPr lang="zh-CN" altLang="en-US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全组协作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0F7F70-C224-6F6A-7D58-34508C9D2FDA}"/>
              </a:ext>
            </a:extLst>
          </p:cNvPr>
          <p:cNvSpPr txBox="1"/>
          <p:nvPr/>
        </p:nvSpPr>
        <p:spPr>
          <a:xfrm>
            <a:off x="660400" y="571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90" b="1">
                <a:solidFill>
                  <a:srgbClr val="101828"/>
                </a:solidFill>
                <a:latin typeface="Microsoft YaHei" panose="020B0503020204020204" pitchFamily="34" charset="-122"/>
              </a:rPr>
              <a:t>跨组互测与 </a:t>
            </a:r>
            <a:r>
              <a:rPr lang="en-US" altLang="zh-CN" sz="2690" b="1">
                <a:solidFill>
                  <a:srgbClr val="101828"/>
                </a:solidFill>
                <a:latin typeface="Microsoft YaHei" panose="020B0503020204020204" pitchFamily="34" charset="-122"/>
              </a:rPr>
              <a:t>Bug </a:t>
            </a:r>
            <a:r>
              <a:rPr lang="zh-CN" altLang="en-US" sz="2690" b="1">
                <a:solidFill>
                  <a:srgbClr val="101828"/>
                </a:solidFill>
                <a:latin typeface="Microsoft YaHei" panose="020B0503020204020204" pitchFamily="34" charset="-122"/>
              </a:rPr>
              <a:t>反馈闭环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8B45B0-291A-7843-81FC-CB128F1DFEBB}"/>
              </a:ext>
            </a:extLst>
          </p:cNvPr>
          <p:cNvSpPr txBox="1"/>
          <p:nvPr/>
        </p:nvSpPr>
        <p:spPr>
          <a:xfrm>
            <a:off x="660400" y="11176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>
                <a:solidFill>
                  <a:srgbClr val="475467"/>
                </a:solidFill>
                <a:latin typeface="Microsoft YaHei" panose="020B0503020204020204" pitchFamily="34" charset="-122"/>
              </a:rPr>
              <a:t>每组体验其他组功能，从“开发者自测”扩展到“协作者验收”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1FABE0B-B0EA-37FC-D83A-2B8664F039C1}"/>
              </a:ext>
            </a:extLst>
          </p:cNvPr>
          <p:cNvSpPr/>
          <p:nvPr/>
        </p:nvSpPr>
        <p:spPr>
          <a:xfrm>
            <a:off x="1066800" y="1917700"/>
            <a:ext cx="787400" cy="787400"/>
          </a:xfrm>
          <a:prstGeom prst="ellipse">
            <a:avLst/>
          </a:prstGeom>
          <a:solidFill>
            <a:srgbClr val="4F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868146-99DE-BC12-0EFC-12BDC5927271}"/>
              </a:ext>
            </a:extLst>
          </p:cNvPr>
          <p:cNvSpPr txBox="1"/>
          <p:nvPr/>
        </p:nvSpPr>
        <p:spPr>
          <a:xfrm>
            <a:off x="1066800" y="19177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体验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30E4720-1207-89D8-EFC7-490A797CA190}"/>
              </a:ext>
            </a:extLst>
          </p:cNvPr>
          <p:cNvSpPr/>
          <p:nvPr/>
        </p:nvSpPr>
        <p:spPr>
          <a:xfrm>
            <a:off x="2882900" y="1917700"/>
            <a:ext cx="787400" cy="787400"/>
          </a:xfrm>
          <a:prstGeom prst="ellipse">
            <a:avLst/>
          </a:prstGeom>
          <a:solidFill>
            <a:srgbClr val="835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20B227-12AD-CB51-C0F1-71791B9FCF11}"/>
              </a:ext>
            </a:extLst>
          </p:cNvPr>
          <p:cNvSpPr txBox="1"/>
          <p:nvPr/>
        </p:nvSpPr>
        <p:spPr>
          <a:xfrm>
            <a:off x="2882900" y="19177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记录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503A00D-E005-A2F3-4E5B-FE8ECBAECEEC}"/>
              </a:ext>
            </a:extLst>
          </p:cNvPr>
          <p:cNvSpPr/>
          <p:nvPr/>
        </p:nvSpPr>
        <p:spPr>
          <a:xfrm>
            <a:off x="4699000" y="1917700"/>
            <a:ext cx="787400" cy="787400"/>
          </a:xfrm>
          <a:prstGeom prst="ellipse">
            <a:avLst/>
          </a:prstGeom>
          <a:solidFill>
            <a:srgbClr val="FF76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6E7EBE-8E73-7835-CE19-792A7D9F451F}"/>
              </a:ext>
            </a:extLst>
          </p:cNvPr>
          <p:cNvSpPr txBox="1"/>
          <p:nvPr/>
        </p:nvSpPr>
        <p:spPr>
          <a:xfrm>
            <a:off x="4699000" y="19177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反馈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1CA1853-A06E-032C-1C5B-FCF72FEF1E17}"/>
              </a:ext>
            </a:extLst>
          </p:cNvPr>
          <p:cNvSpPr/>
          <p:nvPr/>
        </p:nvSpPr>
        <p:spPr>
          <a:xfrm>
            <a:off x="6515100" y="1917700"/>
            <a:ext cx="787400" cy="787400"/>
          </a:xfrm>
          <a:prstGeom prst="ellipse">
            <a:avLst/>
          </a:prstGeom>
          <a:solidFill>
            <a:srgbClr val="2AB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8F6FEB-9C83-5BE5-7390-727419ABE8A8}"/>
              </a:ext>
            </a:extLst>
          </p:cNvPr>
          <p:cNvSpPr txBox="1"/>
          <p:nvPr/>
        </p:nvSpPr>
        <p:spPr>
          <a:xfrm>
            <a:off x="6515100" y="19177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修复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8AC96CB-FC93-A0A9-C509-151E764AC680}"/>
              </a:ext>
            </a:extLst>
          </p:cNvPr>
          <p:cNvCxnSpPr/>
          <p:nvPr/>
        </p:nvCxnSpPr>
        <p:spPr>
          <a:xfrm>
            <a:off x="1854200" y="2311400"/>
            <a:ext cx="990600" cy="0"/>
          </a:xfrm>
          <a:prstGeom prst="line">
            <a:avLst/>
          </a:prstGeom>
          <a:ln w="20320">
            <a:solidFill>
              <a:srgbClr val="7A899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B1F05B9-003F-FF88-C7D5-B254821F4041}"/>
              </a:ext>
            </a:extLst>
          </p:cNvPr>
          <p:cNvCxnSpPr/>
          <p:nvPr/>
        </p:nvCxnSpPr>
        <p:spPr>
          <a:xfrm>
            <a:off x="3670300" y="2311400"/>
            <a:ext cx="990600" cy="0"/>
          </a:xfrm>
          <a:prstGeom prst="line">
            <a:avLst/>
          </a:prstGeom>
          <a:ln w="20320">
            <a:solidFill>
              <a:srgbClr val="7A899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16477AB-C824-138D-DBB1-70DC65F4E8FC}"/>
              </a:ext>
            </a:extLst>
          </p:cNvPr>
          <p:cNvCxnSpPr/>
          <p:nvPr/>
        </p:nvCxnSpPr>
        <p:spPr>
          <a:xfrm>
            <a:off x="5486400" y="2311400"/>
            <a:ext cx="990600" cy="0"/>
          </a:xfrm>
          <a:prstGeom prst="line">
            <a:avLst/>
          </a:prstGeom>
          <a:ln w="20320">
            <a:solidFill>
              <a:srgbClr val="7A899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B078163-3225-9BD9-8059-24BD85EAFA27}"/>
              </a:ext>
            </a:extLst>
          </p:cNvPr>
          <p:cNvCxnSpPr/>
          <p:nvPr/>
        </p:nvCxnSpPr>
        <p:spPr>
          <a:xfrm>
            <a:off x="6908800" y="2743200"/>
            <a:ext cx="0" cy="330200"/>
          </a:xfrm>
          <a:prstGeom prst="line">
            <a:avLst/>
          </a:prstGeom>
          <a:ln w="16510">
            <a:solidFill>
              <a:srgbClr val="7A8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4EFB2F7-3B45-F2E8-FC8F-EB26E44004BD}"/>
              </a:ext>
            </a:extLst>
          </p:cNvPr>
          <p:cNvCxnSpPr/>
          <p:nvPr/>
        </p:nvCxnSpPr>
        <p:spPr>
          <a:xfrm flipH="1">
            <a:off x="1447800" y="3073400"/>
            <a:ext cx="5461000" cy="0"/>
          </a:xfrm>
          <a:prstGeom prst="line">
            <a:avLst/>
          </a:prstGeom>
          <a:ln w="16510">
            <a:solidFill>
              <a:srgbClr val="7A8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F999251-3D78-FA49-BE66-278BDD915727}"/>
              </a:ext>
            </a:extLst>
          </p:cNvPr>
          <p:cNvCxnSpPr/>
          <p:nvPr/>
        </p:nvCxnSpPr>
        <p:spPr>
          <a:xfrm flipV="1">
            <a:off x="1447800" y="2743200"/>
            <a:ext cx="0" cy="330200"/>
          </a:xfrm>
          <a:prstGeom prst="line">
            <a:avLst/>
          </a:prstGeom>
          <a:ln w="16510">
            <a:solidFill>
              <a:srgbClr val="7A899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801979F-9FE7-F11A-4A64-F83E8D9EEFAD}"/>
              </a:ext>
            </a:extLst>
          </p:cNvPr>
          <p:cNvSpPr txBox="1"/>
          <p:nvPr/>
        </p:nvSpPr>
        <p:spPr>
          <a:xfrm>
            <a:off x="3708400" y="2933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950" b="1">
                <a:solidFill>
                  <a:srgbClr val="7A899F"/>
                </a:solidFill>
                <a:latin typeface="Microsoft YaHei" panose="020B0503020204020204" pitchFamily="34" charset="-122"/>
              </a:rPr>
              <a:t>重新验证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90AF8C2-49A6-DF53-5C3E-AED4FF58DC1E}"/>
              </a:ext>
            </a:extLst>
          </p:cNvPr>
          <p:cNvSpPr/>
          <p:nvPr/>
        </p:nvSpPr>
        <p:spPr>
          <a:xfrm>
            <a:off x="660400" y="3479801"/>
            <a:ext cx="7823200" cy="5309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6D06273-D8FB-1258-C24D-0C00952E0EAB}"/>
              </a:ext>
            </a:extLst>
          </p:cNvPr>
          <p:cNvSpPr txBox="1"/>
          <p:nvPr/>
        </p:nvSpPr>
        <p:spPr>
          <a:xfrm>
            <a:off x="914400" y="3657600"/>
            <a:ext cx="129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 b="1">
                <a:solidFill>
                  <a:srgbClr val="101828"/>
                </a:solidFill>
                <a:latin typeface="Microsoft YaHei" panose="020B0503020204020204" pitchFamily="34" charset="-122"/>
              </a:rPr>
              <a:t>本周测试覆盖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FE11C15-BCA0-93F0-9FFB-73FB1AE23523}"/>
              </a:ext>
            </a:extLst>
          </p:cNvPr>
          <p:cNvSpPr/>
          <p:nvPr/>
        </p:nvSpPr>
        <p:spPr>
          <a:xfrm>
            <a:off x="2349500" y="3619500"/>
            <a:ext cx="1168400" cy="279400"/>
          </a:xfrm>
          <a:prstGeom prst="roundRect">
            <a:avLst/>
          </a:prstGeom>
          <a:solidFill>
            <a:srgbClr val="E6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2616480-1852-1F6E-AFCC-076969E55237}"/>
              </a:ext>
            </a:extLst>
          </p:cNvPr>
          <p:cNvSpPr txBox="1"/>
          <p:nvPr/>
        </p:nvSpPr>
        <p:spPr>
          <a:xfrm>
            <a:off x="2349500" y="36195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900" b="1">
                <a:solidFill>
                  <a:srgbClr val="4F6BFF"/>
                </a:solidFill>
                <a:latin typeface="Microsoft YaHei" panose="020B0503020204020204" pitchFamily="34" charset="-122"/>
              </a:rPr>
              <a:t>订阅 </a:t>
            </a:r>
            <a:r>
              <a:rPr lang="en-US" altLang="zh-CN" sz="900" b="1">
                <a:solidFill>
                  <a:srgbClr val="4F6BFF"/>
                </a:solidFill>
                <a:latin typeface="Microsoft YaHei" panose="020B0503020204020204" pitchFamily="34" charset="-122"/>
              </a:rPr>
              <a:t>/ OPML</a:t>
            </a:r>
            <a:endParaRPr lang="zh-CN" altLang="en-US" sz="900" b="1">
              <a:solidFill>
                <a:srgbClr val="4F6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E180E46-68A1-C821-6E55-DAFA4702E41D}"/>
              </a:ext>
            </a:extLst>
          </p:cNvPr>
          <p:cNvSpPr/>
          <p:nvPr/>
        </p:nvSpPr>
        <p:spPr>
          <a:xfrm>
            <a:off x="3619500" y="3619500"/>
            <a:ext cx="1041400" cy="279400"/>
          </a:xfrm>
          <a:prstGeom prst="roundRect">
            <a:avLst/>
          </a:prstGeom>
          <a:solidFill>
            <a:srgbClr val="DD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F83C37-E407-D326-F14E-E4CF4CE1058F}"/>
              </a:ext>
            </a:extLst>
          </p:cNvPr>
          <p:cNvSpPr txBox="1"/>
          <p:nvPr/>
        </p:nvSpPr>
        <p:spPr>
          <a:xfrm>
            <a:off x="3619500" y="36195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900" b="1">
                <a:solidFill>
                  <a:srgbClr val="2ABE84"/>
                </a:solidFill>
                <a:latin typeface="Microsoft YaHei" panose="020B0503020204020204" pitchFamily="34" charset="-122"/>
              </a:rPr>
              <a:t>正文清洗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6E83100-73A0-6097-E5D8-0346E2FAE4EC}"/>
              </a:ext>
            </a:extLst>
          </p:cNvPr>
          <p:cNvSpPr/>
          <p:nvPr/>
        </p:nvSpPr>
        <p:spPr>
          <a:xfrm>
            <a:off x="4762500" y="3619500"/>
            <a:ext cx="1422400" cy="279400"/>
          </a:xfrm>
          <a:prstGeom prst="roundRect">
            <a:avLst/>
          </a:prstGeom>
          <a:solidFill>
            <a:srgbClr val="ED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44FB448-4979-8B9B-8F5B-AF1427DAB380}"/>
              </a:ext>
            </a:extLst>
          </p:cNvPr>
          <p:cNvSpPr txBox="1"/>
          <p:nvPr/>
        </p:nvSpPr>
        <p:spPr>
          <a:xfrm>
            <a:off x="4762500" y="36195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835CF6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00" b="1">
                <a:solidFill>
                  <a:srgbClr val="835CF6"/>
                </a:solidFill>
                <a:latin typeface="Microsoft YaHei" panose="020B0503020204020204" pitchFamily="34" charset="-122"/>
              </a:rPr>
              <a:t>摘要 </a:t>
            </a:r>
            <a:r>
              <a:rPr lang="en-US" altLang="zh-CN" sz="900" b="1">
                <a:solidFill>
                  <a:srgbClr val="835CF6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 b="1">
                <a:solidFill>
                  <a:srgbClr val="835CF6"/>
                </a:solidFill>
                <a:latin typeface="Microsoft YaHei" panose="020B0503020204020204" pitchFamily="34" charset="-122"/>
              </a:rPr>
              <a:t>翻译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AB3F2C8-6792-4C5B-3D11-6006213FA440}"/>
              </a:ext>
            </a:extLst>
          </p:cNvPr>
          <p:cNvSpPr/>
          <p:nvPr/>
        </p:nvSpPr>
        <p:spPr>
          <a:xfrm>
            <a:off x="6286500" y="3619500"/>
            <a:ext cx="1168400" cy="279400"/>
          </a:xfrm>
          <a:prstGeom prst="roundRect">
            <a:avLst/>
          </a:prstGeom>
          <a:solidFill>
            <a:srgbClr val="FFE8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42581A2-D72E-00A4-F707-311DFCF764F0}"/>
              </a:ext>
            </a:extLst>
          </p:cNvPr>
          <p:cNvSpPr txBox="1"/>
          <p:nvPr/>
        </p:nvSpPr>
        <p:spPr>
          <a:xfrm>
            <a:off x="6286500" y="36195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900" b="1">
                <a:solidFill>
                  <a:srgbClr val="FF7657"/>
                </a:solidFill>
                <a:latin typeface="Microsoft YaHei" panose="020B0503020204020204" pitchFamily="34" charset="-122"/>
              </a:rPr>
              <a:t>标签 </a:t>
            </a:r>
            <a:r>
              <a:rPr lang="en-US" altLang="zh-CN" sz="900" b="1">
                <a:solidFill>
                  <a:srgbClr val="FF765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 b="1">
                <a:solidFill>
                  <a:srgbClr val="FF7657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50CB061-F4EC-9B31-C751-A88CBBFF2B48}"/>
              </a:ext>
            </a:extLst>
          </p:cNvPr>
          <p:cNvSpPr/>
          <p:nvPr/>
        </p:nvSpPr>
        <p:spPr>
          <a:xfrm>
            <a:off x="7556500" y="3619500"/>
            <a:ext cx="736600" cy="279400"/>
          </a:xfrm>
          <a:prstGeom prst="roundRect">
            <a:avLst/>
          </a:prstGeom>
          <a:solidFill>
            <a:srgbClr val="FFF6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3E708B-74EF-0153-C815-5934BF2E74AA}"/>
              </a:ext>
            </a:extLst>
          </p:cNvPr>
          <p:cNvSpPr txBox="1"/>
          <p:nvPr/>
        </p:nvSpPr>
        <p:spPr>
          <a:xfrm>
            <a:off x="7556500" y="36195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820" b="1">
                <a:solidFill>
                  <a:srgbClr val="AB740F"/>
                </a:solidFill>
                <a:latin typeface="Microsoft YaHei" panose="020B0503020204020204" pitchFamily="34" charset="-122"/>
              </a:rPr>
              <a:t>设置持久化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598F0F2-D1F5-AA5D-BC4E-0B19B6E0FFF1}"/>
              </a:ext>
            </a:extLst>
          </p:cNvPr>
          <p:cNvSpPr txBox="1"/>
          <p:nvPr/>
        </p:nvSpPr>
        <p:spPr>
          <a:xfrm>
            <a:off x="660400" y="4889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760" b="1">
                <a:solidFill>
                  <a:srgbClr val="7A899F"/>
                </a:solidFill>
                <a:latin typeface="Microsoft YaHei" panose="020B0503020204020204" pitchFamily="34" charset="-122"/>
              </a:rPr>
              <a:t>MERCURY / WEEKLY UPDATE</a:t>
            </a:r>
            <a:endParaRPr lang="zh-CN" altLang="en-US" sz="76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E7B1245-653E-ADCD-E3C7-252C44142520}"/>
              </a:ext>
            </a:extLst>
          </p:cNvPr>
          <p:cNvSpPr txBox="1"/>
          <p:nvPr/>
        </p:nvSpPr>
        <p:spPr>
          <a:xfrm>
            <a:off x="8128000" y="4851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40" b="1">
                <a:solidFill>
                  <a:srgbClr val="7A899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84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000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854358-24B7-CF6E-FC0B-D5C87B05ADE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306793-57D8-E34A-C311-966C8B4170DA}"/>
              </a:ext>
            </a:extLst>
          </p:cNvPr>
          <p:cNvSpPr txBox="1"/>
          <p:nvPr/>
        </p:nvSpPr>
        <p:spPr>
          <a:xfrm>
            <a:off x="660400" y="304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06 / </a:t>
            </a:r>
            <a:r>
              <a:rPr lang="zh-CN" altLang="en-US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联调状态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442F46-5FC6-A2DB-AE1D-2F6AC904F62D}"/>
              </a:ext>
            </a:extLst>
          </p:cNvPr>
          <p:cNvSpPr txBox="1"/>
          <p:nvPr/>
        </p:nvSpPr>
        <p:spPr>
          <a:xfrm>
            <a:off x="660400" y="571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90" b="1">
                <a:solidFill>
                  <a:srgbClr val="101828"/>
                </a:solidFill>
                <a:latin typeface="Microsoft YaHei" panose="020B0503020204020204" pitchFamily="34" charset="-122"/>
              </a:rPr>
              <a:t>完整主链路已具备演示条件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DEE28C-A417-3C76-3EE8-B6D2E4B2540C}"/>
              </a:ext>
            </a:extLst>
          </p:cNvPr>
          <p:cNvSpPr txBox="1"/>
          <p:nvPr/>
        </p:nvSpPr>
        <p:spPr>
          <a:xfrm>
            <a:off x="660400" y="11176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>
                <a:solidFill>
                  <a:srgbClr val="475467"/>
                </a:solidFill>
                <a:latin typeface="Microsoft YaHei" panose="020B0503020204020204" pitchFamily="34" charset="-122"/>
              </a:rPr>
              <a:t>本周工作让各模块以统一产品流程连接起来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9167BD6-0033-0450-B340-2E2BCA1E5CFB}"/>
              </a:ext>
            </a:extLst>
          </p:cNvPr>
          <p:cNvSpPr/>
          <p:nvPr/>
        </p:nvSpPr>
        <p:spPr>
          <a:xfrm>
            <a:off x="660400" y="1651000"/>
            <a:ext cx="381000" cy="381000"/>
          </a:xfrm>
          <a:prstGeom prst="ellipse">
            <a:avLst/>
          </a:prstGeom>
          <a:solidFill>
            <a:srgbClr val="4F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9BB1FE-5F59-8E69-1A66-984DE06734C9}"/>
              </a:ext>
            </a:extLst>
          </p:cNvPr>
          <p:cNvSpPr txBox="1"/>
          <p:nvPr/>
        </p:nvSpPr>
        <p:spPr>
          <a:xfrm>
            <a:off x="660400" y="1651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303917-92F2-64A4-B988-9100549DAFA4}"/>
              </a:ext>
            </a:extLst>
          </p:cNvPr>
          <p:cNvSpPr txBox="1"/>
          <p:nvPr/>
        </p:nvSpPr>
        <p:spPr>
          <a:xfrm>
            <a:off x="482600" y="20955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10" b="1">
                <a:solidFill>
                  <a:srgbClr val="101828"/>
                </a:solidFill>
                <a:latin typeface="Microsoft YaHei" panose="020B0503020204020204" pitchFamily="34" charset="-122"/>
              </a:rPr>
              <a:t>订阅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D243E1A-3E65-2B6D-10AB-191B623647C6}"/>
              </a:ext>
            </a:extLst>
          </p:cNvPr>
          <p:cNvCxnSpPr/>
          <p:nvPr/>
        </p:nvCxnSpPr>
        <p:spPr>
          <a:xfrm>
            <a:off x="1054100" y="1841500"/>
            <a:ext cx="673100" cy="0"/>
          </a:xfrm>
          <a:prstGeom prst="line">
            <a:avLst/>
          </a:prstGeom>
          <a:ln w="19050">
            <a:solidFill>
              <a:srgbClr val="DDE3E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D6C4F51E-6F85-F8F7-DFD8-9628FA67DC27}"/>
              </a:ext>
            </a:extLst>
          </p:cNvPr>
          <p:cNvSpPr/>
          <p:nvPr/>
        </p:nvSpPr>
        <p:spPr>
          <a:xfrm>
            <a:off x="1778000" y="1651000"/>
            <a:ext cx="381000" cy="381000"/>
          </a:xfrm>
          <a:prstGeom prst="ellipse">
            <a:avLst/>
          </a:prstGeom>
          <a:solidFill>
            <a:srgbClr val="1ABE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B7CAD1-52AF-3630-F3B4-74DF7134A635}"/>
              </a:ext>
            </a:extLst>
          </p:cNvPr>
          <p:cNvSpPr txBox="1"/>
          <p:nvPr/>
        </p:nvSpPr>
        <p:spPr>
          <a:xfrm>
            <a:off x="1778000" y="1651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51560D-3946-ECE9-A984-37B72FCC4E17}"/>
              </a:ext>
            </a:extLst>
          </p:cNvPr>
          <p:cNvSpPr txBox="1"/>
          <p:nvPr/>
        </p:nvSpPr>
        <p:spPr>
          <a:xfrm>
            <a:off x="1600200" y="20955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10" b="1">
                <a:solidFill>
                  <a:srgbClr val="101828"/>
                </a:solidFill>
                <a:latin typeface="Microsoft YaHei" panose="020B0503020204020204" pitchFamily="34" charset="-122"/>
              </a:rPr>
              <a:t>抓取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EF5A53E-9C4F-87DE-7F22-C6B234694689}"/>
              </a:ext>
            </a:extLst>
          </p:cNvPr>
          <p:cNvCxnSpPr/>
          <p:nvPr/>
        </p:nvCxnSpPr>
        <p:spPr>
          <a:xfrm>
            <a:off x="2171700" y="1841500"/>
            <a:ext cx="673100" cy="0"/>
          </a:xfrm>
          <a:prstGeom prst="line">
            <a:avLst/>
          </a:prstGeom>
          <a:ln w="19050">
            <a:solidFill>
              <a:srgbClr val="DDE3E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49A4D7C9-14AC-B5B2-B6DF-C7BC4A1C012D}"/>
              </a:ext>
            </a:extLst>
          </p:cNvPr>
          <p:cNvSpPr/>
          <p:nvPr/>
        </p:nvSpPr>
        <p:spPr>
          <a:xfrm>
            <a:off x="2895600" y="1651000"/>
            <a:ext cx="381000" cy="381000"/>
          </a:xfrm>
          <a:prstGeom prst="ellipse">
            <a:avLst/>
          </a:prstGeom>
          <a:solidFill>
            <a:srgbClr val="2AB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9954E6-36A7-9ED8-9D75-E5CE947DD3E8}"/>
              </a:ext>
            </a:extLst>
          </p:cNvPr>
          <p:cNvSpPr txBox="1"/>
          <p:nvPr/>
        </p:nvSpPr>
        <p:spPr>
          <a:xfrm>
            <a:off x="2895600" y="1651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0669842-7B83-986F-C34A-484BFE88474C}"/>
              </a:ext>
            </a:extLst>
          </p:cNvPr>
          <p:cNvSpPr txBox="1"/>
          <p:nvPr/>
        </p:nvSpPr>
        <p:spPr>
          <a:xfrm>
            <a:off x="2717800" y="20955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10" b="1">
                <a:solidFill>
                  <a:srgbClr val="101828"/>
                </a:solidFill>
                <a:latin typeface="Microsoft YaHei" panose="020B0503020204020204" pitchFamily="34" charset="-122"/>
              </a:rPr>
              <a:t>清洗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4D4CA25-3B1E-24C6-8781-67656D4A2784}"/>
              </a:ext>
            </a:extLst>
          </p:cNvPr>
          <p:cNvCxnSpPr/>
          <p:nvPr/>
        </p:nvCxnSpPr>
        <p:spPr>
          <a:xfrm>
            <a:off x="3289300" y="1841500"/>
            <a:ext cx="673100" cy="0"/>
          </a:xfrm>
          <a:prstGeom prst="line">
            <a:avLst/>
          </a:prstGeom>
          <a:ln w="19050">
            <a:solidFill>
              <a:srgbClr val="DDE3E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D576F9D6-6CFD-647F-B6FA-DC4911A046F1}"/>
              </a:ext>
            </a:extLst>
          </p:cNvPr>
          <p:cNvSpPr/>
          <p:nvPr/>
        </p:nvSpPr>
        <p:spPr>
          <a:xfrm>
            <a:off x="4013200" y="1651000"/>
            <a:ext cx="381000" cy="381000"/>
          </a:xfrm>
          <a:prstGeom prst="ellipse">
            <a:avLst/>
          </a:prstGeom>
          <a:solidFill>
            <a:srgbClr val="F7C1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BDAEB2-136C-7C38-4B05-5CFCC3AEECC8}"/>
              </a:ext>
            </a:extLst>
          </p:cNvPr>
          <p:cNvSpPr txBox="1"/>
          <p:nvPr/>
        </p:nvSpPr>
        <p:spPr>
          <a:xfrm>
            <a:off x="4013200" y="1651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D8AB2D-8888-0FB3-A00E-A7E70A986F7F}"/>
              </a:ext>
            </a:extLst>
          </p:cNvPr>
          <p:cNvSpPr txBox="1"/>
          <p:nvPr/>
        </p:nvSpPr>
        <p:spPr>
          <a:xfrm>
            <a:off x="3835400" y="20955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10" b="1">
                <a:solidFill>
                  <a:srgbClr val="101828"/>
                </a:solidFill>
                <a:latin typeface="Microsoft YaHei" panose="020B0503020204020204" pitchFamily="34" charset="-122"/>
              </a:rPr>
              <a:t>阅读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EED68A9-DBAE-DC87-17A6-9588BA3AB28B}"/>
              </a:ext>
            </a:extLst>
          </p:cNvPr>
          <p:cNvCxnSpPr/>
          <p:nvPr/>
        </p:nvCxnSpPr>
        <p:spPr>
          <a:xfrm>
            <a:off x="4406900" y="1841500"/>
            <a:ext cx="673100" cy="0"/>
          </a:xfrm>
          <a:prstGeom prst="line">
            <a:avLst/>
          </a:prstGeom>
          <a:ln w="19050">
            <a:solidFill>
              <a:srgbClr val="DDE3E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88690108-BD0E-78E6-8D72-6956030142C1}"/>
              </a:ext>
            </a:extLst>
          </p:cNvPr>
          <p:cNvSpPr/>
          <p:nvPr/>
        </p:nvSpPr>
        <p:spPr>
          <a:xfrm>
            <a:off x="5130800" y="1651000"/>
            <a:ext cx="381000" cy="381000"/>
          </a:xfrm>
          <a:prstGeom prst="ellipse">
            <a:avLst/>
          </a:prstGeom>
          <a:solidFill>
            <a:srgbClr val="835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CB3A0D-4FC4-3B64-DE35-27932A3155E3}"/>
              </a:ext>
            </a:extLst>
          </p:cNvPr>
          <p:cNvSpPr txBox="1"/>
          <p:nvPr/>
        </p:nvSpPr>
        <p:spPr>
          <a:xfrm>
            <a:off x="5130800" y="1651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B6AA7DF-F90D-9FCF-E063-D81BC58CF8FF}"/>
              </a:ext>
            </a:extLst>
          </p:cNvPr>
          <p:cNvSpPr txBox="1"/>
          <p:nvPr/>
        </p:nvSpPr>
        <p:spPr>
          <a:xfrm>
            <a:off x="4953000" y="20955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10" b="1">
                <a:solidFill>
                  <a:srgbClr val="101828"/>
                </a:solidFill>
                <a:latin typeface="Microsoft YaHei" panose="020B0503020204020204" pitchFamily="34" charset="-122"/>
              </a:rPr>
              <a:t>AI</a:t>
            </a:r>
            <a:endParaRPr lang="zh-CN" altLang="en-US" sz="1010" b="1">
              <a:solidFill>
                <a:srgbClr val="101828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15A2F2C-2198-F3BC-9851-5CAF9C4658C9}"/>
              </a:ext>
            </a:extLst>
          </p:cNvPr>
          <p:cNvCxnSpPr/>
          <p:nvPr/>
        </p:nvCxnSpPr>
        <p:spPr>
          <a:xfrm>
            <a:off x="5524500" y="1841500"/>
            <a:ext cx="673100" cy="0"/>
          </a:xfrm>
          <a:prstGeom prst="line">
            <a:avLst/>
          </a:prstGeom>
          <a:ln w="19050">
            <a:solidFill>
              <a:srgbClr val="DDE3E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855C1C6C-41F0-2551-5750-E6AA5ECC9A1A}"/>
              </a:ext>
            </a:extLst>
          </p:cNvPr>
          <p:cNvSpPr/>
          <p:nvPr/>
        </p:nvSpPr>
        <p:spPr>
          <a:xfrm>
            <a:off x="6248400" y="1651000"/>
            <a:ext cx="381000" cy="381000"/>
          </a:xfrm>
          <a:prstGeom prst="ellipse">
            <a:avLst/>
          </a:prstGeom>
          <a:solidFill>
            <a:srgbClr val="FF76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DEC73A-94C9-E0B6-BDC0-C3ECF1BA3E46}"/>
              </a:ext>
            </a:extLst>
          </p:cNvPr>
          <p:cNvSpPr txBox="1"/>
          <p:nvPr/>
        </p:nvSpPr>
        <p:spPr>
          <a:xfrm>
            <a:off x="6248400" y="1651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6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992D75A-DD27-95F4-48D3-9497B54EA821}"/>
              </a:ext>
            </a:extLst>
          </p:cNvPr>
          <p:cNvSpPr txBox="1"/>
          <p:nvPr/>
        </p:nvSpPr>
        <p:spPr>
          <a:xfrm>
            <a:off x="6070600" y="20955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10" b="1">
                <a:solidFill>
                  <a:srgbClr val="101828"/>
                </a:solidFill>
                <a:latin typeface="Microsoft YaHei" panose="020B0503020204020204" pitchFamily="34" charset="-122"/>
              </a:rPr>
              <a:t>标签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1785754-14A9-4AAB-9554-B10F3BB42EAF}"/>
              </a:ext>
            </a:extLst>
          </p:cNvPr>
          <p:cNvCxnSpPr/>
          <p:nvPr/>
        </p:nvCxnSpPr>
        <p:spPr>
          <a:xfrm>
            <a:off x="6642100" y="1841500"/>
            <a:ext cx="673100" cy="0"/>
          </a:xfrm>
          <a:prstGeom prst="line">
            <a:avLst/>
          </a:prstGeom>
          <a:ln w="19050">
            <a:solidFill>
              <a:srgbClr val="DDE3E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E7C82B15-36C3-9F90-68E0-51A9C113CBEF}"/>
              </a:ext>
            </a:extLst>
          </p:cNvPr>
          <p:cNvSpPr/>
          <p:nvPr/>
        </p:nvSpPr>
        <p:spPr>
          <a:xfrm>
            <a:off x="7366000" y="1651000"/>
            <a:ext cx="381000" cy="381000"/>
          </a:xfrm>
          <a:prstGeom prst="ellipse">
            <a:avLst/>
          </a:prstGeom>
          <a:solidFill>
            <a:srgbClr val="1018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9C4472-F79B-82FF-B413-0BF4CF8EEE1C}"/>
              </a:ext>
            </a:extLst>
          </p:cNvPr>
          <p:cNvSpPr txBox="1"/>
          <p:nvPr/>
        </p:nvSpPr>
        <p:spPr>
          <a:xfrm>
            <a:off x="7366000" y="1651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7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8D5392-0AC5-02A8-012C-56322D376E88}"/>
              </a:ext>
            </a:extLst>
          </p:cNvPr>
          <p:cNvSpPr txBox="1"/>
          <p:nvPr/>
        </p:nvSpPr>
        <p:spPr>
          <a:xfrm>
            <a:off x="7188200" y="20955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10" b="1">
                <a:solidFill>
                  <a:srgbClr val="101828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71990CF-E59D-0C4F-08FC-7C30B40AC0E8}"/>
              </a:ext>
            </a:extLst>
          </p:cNvPr>
          <p:cNvSpPr txBox="1"/>
          <p:nvPr/>
        </p:nvSpPr>
        <p:spPr>
          <a:xfrm>
            <a:off x="660400" y="4889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760" b="1">
                <a:solidFill>
                  <a:srgbClr val="7A899F"/>
                </a:solidFill>
                <a:latin typeface="Microsoft YaHei" panose="020B0503020204020204" pitchFamily="34" charset="-122"/>
              </a:rPr>
              <a:t>MERCURY / WEEKLY UPDATE</a:t>
            </a:r>
            <a:endParaRPr lang="zh-CN" altLang="en-US" sz="76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96480E6-14C5-26A3-D23E-0BD50647FEB7}"/>
              </a:ext>
            </a:extLst>
          </p:cNvPr>
          <p:cNvSpPr txBox="1"/>
          <p:nvPr/>
        </p:nvSpPr>
        <p:spPr>
          <a:xfrm>
            <a:off x="8128000" y="4851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40" b="1">
                <a:solidFill>
                  <a:srgbClr val="7A899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840" b="1">
              <a:solidFill>
                <a:srgbClr val="7A899F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A3A4699A-984C-0468-A0CF-138EF311E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395" y="2416351"/>
            <a:ext cx="4259333" cy="25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3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BCF2D2-7AFB-37E8-1B97-DF83FB24B86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C8AE15-1AFC-66AF-BFCE-076E5A5113CD}"/>
              </a:ext>
            </a:extLst>
          </p:cNvPr>
          <p:cNvSpPr txBox="1"/>
          <p:nvPr/>
        </p:nvSpPr>
        <p:spPr>
          <a:xfrm>
            <a:off x="660400" y="304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07 / </a:t>
            </a:r>
            <a:r>
              <a:rPr lang="zh-CN" altLang="en-US" sz="950" b="1">
                <a:solidFill>
                  <a:srgbClr val="4F6BFF"/>
                </a:solidFill>
                <a:latin typeface="Microsoft YaHei" panose="020B0503020204020204" pitchFamily="34" charset="-122"/>
              </a:rPr>
              <a:t>下一步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BB6086-53D1-035B-610F-A5CEA4319760}"/>
              </a:ext>
            </a:extLst>
          </p:cNvPr>
          <p:cNvSpPr txBox="1"/>
          <p:nvPr/>
        </p:nvSpPr>
        <p:spPr>
          <a:xfrm>
            <a:off x="660400" y="571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90" b="1">
                <a:solidFill>
                  <a:srgbClr val="FFFFFF"/>
                </a:solidFill>
                <a:latin typeface="Microsoft YaHei" panose="020B0503020204020204" pitchFamily="34" charset="-122"/>
              </a:rPr>
              <a:t>从功能完成走向稳定交付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31CA57-2E89-45B4-921B-0CE61AA9F05E}"/>
              </a:ext>
            </a:extLst>
          </p:cNvPr>
          <p:cNvSpPr txBox="1"/>
          <p:nvPr/>
        </p:nvSpPr>
        <p:spPr>
          <a:xfrm>
            <a:off x="660400" y="11176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20">
                <a:solidFill>
                  <a:srgbClr val="B3BED2"/>
                </a:solidFill>
                <a:latin typeface="Microsoft YaHei" panose="020B0503020204020204" pitchFamily="34" charset="-122"/>
              </a:rPr>
              <a:t>继续联调、修复反馈问题，并准备课堂端到端演示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1E3D1C-4575-C313-BE7A-0765E9FA191E}"/>
              </a:ext>
            </a:extLst>
          </p:cNvPr>
          <p:cNvSpPr/>
          <p:nvPr/>
        </p:nvSpPr>
        <p:spPr>
          <a:xfrm>
            <a:off x="660400" y="1676400"/>
            <a:ext cx="3733800" cy="1041400"/>
          </a:xfrm>
          <a:prstGeom prst="roundRect">
            <a:avLst/>
          </a:prstGeom>
          <a:solidFill>
            <a:srgbClr val="1620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1D8EBA8-ECE7-065D-DE69-55857B426515}"/>
              </a:ext>
            </a:extLst>
          </p:cNvPr>
          <p:cNvSpPr/>
          <p:nvPr/>
        </p:nvSpPr>
        <p:spPr>
          <a:xfrm>
            <a:off x="889000" y="1917700"/>
            <a:ext cx="482600" cy="482600"/>
          </a:xfrm>
          <a:prstGeom prst="ellipse">
            <a:avLst/>
          </a:prstGeom>
          <a:solidFill>
            <a:srgbClr val="4F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DE90FD-14AF-18E0-ED94-9BC6AE35C775}"/>
              </a:ext>
            </a:extLst>
          </p:cNvPr>
          <p:cNvSpPr txBox="1"/>
          <p:nvPr/>
        </p:nvSpPr>
        <p:spPr>
          <a:xfrm>
            <a:off x="889000" y="19177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291B98-7B6A-7457-B8D4-6FFC3C8BAA50}"/>
              </a:ext>
            </a:extLst>
          </p:cNvPr>
          <p:cNvSpPr txBox="1"/>
          <p:nvPr/>
        </p:nvSpPr>
        <p:spPr>
          <a:xfrm>
            <a:off x="1549400" y="1866900"/>
            <a:ext cx="247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消化互测反馈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3112BC-EEB1-77E5-5D2B-90630FE512F4}"/>
              </a:ext>
            </a:extLst>
          </p:cNvPr>
          <p:cNvSpPr txBox="1"/>
          <p:nvPr/>
        </p:nvSpPr>
        <p:spPr>
          <a:xfrm>
            <a:off x="1549400" y="2222500"/>
            <a:ext cx="256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B3BED2"/>
                </a:solidFill>
                <a:latin typeface="Microsoft YaHei" panose="020B0503020204020204" pitchFamily="34" charset="-122"/>
              </a:rPr>
              <a:t>整理跨组测试发现的问题并完成回归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6368373-7A5D-301F-F5F9-BA2F1B635064}"/>
              </a:ext>
            </a:extLst>
          </p:cNvPr>
          <p:cNvSpPr/>
          <p:nvPr/>
        </p:nvSpPr>
        <p:spPr>
          <a:xfrm>
            <a:off x="4673600" y="1676400"/>
            <a:ext cx="3733800" cy="1041400"/>
          </a:xfrm>
          <a:prstGeom prst="roundRect">
            <a:avLst/>
          </a:prstGeom>
          <a:solidFill>
            <a:srgbClr val="1620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0BC795A-EC5F-5808-F32C-D0241C025601}"/>
              </a:ext>
            </a:extLst>
          </p:cNvPr>
          <p:cNvSpPr/>
          <p:nvPr/>
        </p:nvSpPr>
        <p:spPr>
          <a:xfrm>
            <a:off x="4902200" y="1917700"/>
            <a:ext cx="482600" cy="482600"/>
          </a:xfrm>
          <a:prstGeom prst="ellipse">
            <a:avLst/>
          </a:prstGeom>
          <a:solidFill>
            <a:srgbClr val="835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2C4236-7F5A-CA31-01E2-A22F660AD702}"/>
              </a:ext>
            </a:extLst>
          </p:cNvPr>
          <p:cNvSpPr txBox="1"/>
          <p:nvPr/>
        </p:nvSpPr>
        <p:spPr>
          <a:xfrm>
            <a:off x="4902200" y="19177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F7C559-C575-A057-B940-E4478F6A5744}"/>
              </a:ext>
            </a:extLst>
          </p:cNvPr>
          <p:cNvSpPr txBox="1"/>
          <p:nvPr/>
        </p:nvSpPr>
        <p:spPr>
          <a:xfrm>
            <a:off x="5562600" y="1866900"/>
            <a:ext cx="247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完善交互状态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712992-FCE2-DE3D-F9F1-ED7483C49608}"/>
              </a:ext>
            </a:extLst>
          </p:cNvPr>
          <p:cNvSpPr txBox="1"/>
          <p:nvPr/>
        </p:nvSpPr>
        <p:spPr>
          <a:xfrm>
            <a:off x="5562600" y="2222500"/>
            <a:ext cx="256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B3BED2"/>
                </a:solidFill>
                <a:latin typeface="Microsoft YaHei" panose="020B0503020204020204" pitchFamily="34" charset="-122"/>
              </a:rPr>
              <a:t>补充 </a:t>
            </a:r>
            <a:r>
              <a:rPr lang="en-US" altLang="zh-CN" sz="950">
                <a:solidFill>
                  <a:srgbClr val="B3BED2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50">
                <a:solidFill>
                  <a:srgbClr val="B3BED2"/>
                </a:solidFill>
                <a:latin typeface="Microsoft YaHei" panose="020B0503020204020204" pitchFamily="34" charset="-122"/>
              </a:rPr>
              <a:t>加载、错误提示和防重复操作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E563107-1E27-3411-20CD-103BEE10C02C}"/>
              </a:ext>
            </a:extLst>
          </p:cNvPr>
          <p:cNvSpPr/>
          <p:nvPr/>
        </p:nvSpPr>
        <p:spPr>
          <a:xfrm>
            <a:off x="660400" y="3009900"/>
            <a:ext cx="3733800" cy="1041400"/>
          </a:xfrm>
          <a:prstGeom prst="roundRect">
            <a:avLst/>
          </a:prstGeom>
          <a:solidFill>
            <a:srgbClr val="1620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1D26BB7-F3C5-500F-8045-3F9DD11839AF}"/>
              </a:ext>
            </a:extLst>
          </p:cNvPr>
          <p:cNvSpPr/>
          <p:nvPr/>
        </p:nvSpPr>
        <p:spPr>
          <a:xfrm>
            <a:off x="889000" y="3251200"/>
            <a:ext cx="482600" cy="482600"/>
          </a:xfrm>
          <a:prstGeom prst="ellipse">
            <a:avLst/>
          </a:prstGeom>
          <a:solidFill>
            <a:srgbClr val="2AB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61EB5C-77AB-6267-76F9-20E8194BC5F2}"/>
              </a:ext>
            </a:extLst>
          </p:cNvPr>
          <p:cNvSpPr txBox="1"/>
          <p:nvPr/>
        </p:nvSpPr>
        <p:spPr>
          <a:xfrm>
            <a:off x="889000" y="3251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C89941-2A09-F088-5F0E-67B97206791C}"/>
              </a:ext>
            </a:extLst>
          </p:cNvPr>
          <p:cNvSpPr txBox="1"/>
          <p:nvPr/>
        </p:nvSpPr>
        <p:spPr>
          <a:xfrm>
            <a:off x="1549400" y="3200400"/>
            <a:ext cx="247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更新项目文档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966DDC-D33D-090B-9104-9AE2CBD04D27}"/>
              </a:ext>
            </a:extLst>
          </p:cNvPr>
          <p:cNvSpPr txBox="1"/>
          <p:nvPr/>
        </p:nvSpPr>
        <p:spPr>
          <a:xfrm>
            <a:off x="1549400" y="3556000"/>
            <a:ext cx="256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B3BED2"/>
                </a:solidFill>
                <a:latin typeface="Microsoft YaHei" panose="020B0503020204020204" pitchFamily="34" charset="-122"/>
              </a:rPr>
              <a:t>同步 </a:t>
            </a:r>
            <a:r>
              <a:rPr lang="en-US" altLang="zh-CN" sz="950">
                <a:solidFill>
                  <a:srgbClr val="B3BED2"/>
                </a:solidFill>
                <a:latin typeface="Microsoft YaHei" panose="020B0503020204020204" pitchFamily="34" charset="-122"/>
              </a:rPr>
              <a:t>README</a:t>
            </a:r>
            <a:r>
              <a:rPr lang="zh-CN" altLang="en-US" sz="950">
                <a:solidFill>
                  <a:srgbClr val="B3BED2"/>
                </a:solidFill>
                <a:latin typeface="Microsoft YaHei" panose="020B0503020204020204" pitchFamily="34" charset="-122"/>
              </a:rPr>
              <a:t>、测试结果与当前功能状态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E4CF41D-49D3-DE9D-68F9-87A0039DF16C}"/>
              </a:ext>
            </a:extLst>
          </p:cNvPr>
          <p:cNvSpPr/>
          <p:nvPr/>
        </p:nvSpPr>
        <p:spPr>
          <a:xfrm>
            <a:off x="4673600" y="3009900"/>
            <a:ext cx="3733800" cy="1041400"/>
          </a:xfrm>
          <a:prstGeom prst="roundRect">
            <a:avLst/>
          </a:prstGeom>
          <a:solidFill>
            <a:srgbClr val="1620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5D0CFBC-DA2A-172C-6779-734A73B371A0}"/>
              </a:ext>
            </a:extLst>
          </p:cNvPr>
          <p:cNvSpPr/>
          <p:nvPr/>
        </p:nvSpPr>
        <p:spPr>
          <a:xfrm>
            <a:off x="4902200" y="3251200"/>
            <a:ext cx="482600" cy="482600"/>
          </a:xfrm>
          <a:prstGeom prst="ellipse">
            <a:avLst/>
          </a:prstGeom>
          <a:solidFill>
            <a:srgbClr val="FF76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386B72-2A34-4A3F-FCF6-8875321355C4}"/>
              </a:ext>
            </a:extLst>
          </p:cNvPr>
          <p:cNvSpPr txBox="1"/>
          <p:nvPr/>
        </p:nvSpPr>
        <p:spPr>
          <a:xfrm>
            <a:off x="4902200" y="3251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13AC7C5-52AF-94EA-5B81-6E63AFD3D8B4}"/>
              </a:ext>
            </a:extLst>
          </p:cNvPr>
          <p:cNvSpPr txBox="1"/>
          <p:nvPr/>
        </p:nvSpPr>
        <p:spPr>
          <a:xfrm>
            <a:off x="5562600" y="3200400"/>
            <a:ext cx="247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准备课堂 </a:t>
            </a:r>
            <a:r>
              <a:rPr lang="en-US" altLang="zh-CN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Demo</a:t>
            </a:r>
            <a:endParaRPr lang="zh-CN" altLang="en-US" sz="134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BF85F2F-7408-88B8-6642-C14C7BACC911}"/>
              </a:ext>
            </a:extLst>
          </p:cNvPr>
          <p:cNvSpPr txBox="1"/>
          <p:nvPr/>
        </p:nvSpPr>
        <p:spPr>
          <a:xfrm>
            <a:off x="5562600" y="3556000"/>
            <a:ext cx="256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B3BED2"/>
                </a:solidFill>
                <a:latin typeface="Microsoft YaHei" panose="020B0503020204020204" pitchFamily="34" charset="-122"/>
              </a:rPr>
              <a:t>预置订阅源、模型配置、文章与导出结果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6EDA8D5-F292-AD58-2A61-ED11E31DD25A}"/>
              </a:ext>
            </a:extLst>
          </p:cNvPr>
          <p:cNvCxnSpPr/>
          <p:nvPr/>
        </p:nvCxnSpPr>
        <p:spPr>
          <a:xfrm>
            <a:off x="660400" y="4406900"/>
            <a:ext cx="7823200" cy="0"/>
          </a:xfrm>
          <a:prstGeom prst="line">
            <a:avLst/>
          </a:prstGeom>
          <a:ln w="12700">
            <a:solidFill>
              <a:srgbClr val="3E4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F7B57EF-9F56-5BD7-05A5-E2BFD5C2E28F}"/>
              </a:ext>
            </a:extLst>
          </p:cNvPr>
          <p:cNvSpPr txBox="1"/>
          <p:nvPr/>
        </p:nvSpPr>
        <p:spPr>
          <a:xfrm>
            <a:off x="660400" y="4521200"/>
            <a:ext cx="782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Mercury </a:t>
            </a:r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</a:rPr>
              <a:t>正在从“功能集合”走向“经过协作验证的完整产品体验”。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929BE9B-BF75-CAFC-F2DF-8F9D6CF37303}"/>
              </a:ext>
            </a:extLst>
          </p:cNvPr>
          <p:cNvSpPr txBox="1"/>
          <p:nvPr/>
        </p:nvSpPr>
        <p:spPr>
          <a:xfrm>
            <a:off x="660400" y="4889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760" b="1">
                <a:solidFill>
                  <a:srgbClr val="7E8EAA"/>
                </a:solidFill>
                <a:latin typeface="Microsoft YaHei" panose="020B0503020204020204" pitchFamily="34" charset="-122"/>
              </a:rPr>
              <a:t>MERCURY / WEEKLY UPDATE</a:t>
            </a:r>
            <a:endParaRPr lang="zh-CN" altLang="en-US" sz="760" b="1">
              <a:solidFill>
                <a:srgbClr val="7E8EA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D81B425-D95D-4AED-A31B-794D44316A9B}"/>
              </a:ext>
            </a:extLst>
          </p:cNvPr>
          <p:cNvSpPr txBox="1"/>
          <p:nvPr/>
        </p:nvSpPr>
        <p:spPr>
          <a:xfrm>
            <a:off x="8128000" y="4851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40" b="1">
                <a:solidFill>
                  <a:srgbClr val="7E8EAA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40" b="1">
              <a:solidFill>
                <a:srgbClr val="7E8EA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284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1647</Words>
  <Application>Microsoft Office PowerPoint</Application>
  <PresentationFormat>全屏显示(16:9)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Yuxuan Lin</dc:creator>
  <cp:lastModifiedBy>Yuxuan Lin</cp:lastModifiedBy>
  <cp:revision>3</cp:revision>
  <dcterms:created xsi:type="dcterms:W3CDTF">2026-06-11T19:14:32Z</dcterms:created>
  <dcterms:modified xsi:type="dcterms:W3CDTF">2026-06-11T20:19:22Z</dcterms:modified>
</cp:coreProperties>
</file>